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R101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102" name="R102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103" name="R103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104" name="T104"/>
          <p:cNvSpPr txBox="1"/>
          <p:nvPr/>
        </p:nvSpPr>
        <p:spPr>
          <a:xfrm>
            <a:off x="762000" y="1452562"/>
            <a:ext cx="2283618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FIELD GUIDE · ROMAN CUISINE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762000" y="2014537"/>
            <a:ext cx="4010322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650">
                <a:solidFill>
                  <a:srgbClr val="1f1410"/>
                </a:solidFill>
                <a:latin typeface="Source Serif 4"/>
                <a:ea typeface="Source Serif 4"/>
              </a:rPr>
              <a:t>Mastering the Art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762000" y="2628602"/>
            <a:ext cx="559891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650">
                <a:solidFill>
                  <a:srgbClr val="1f1410"/>
                </a:solidFill>
                <a:latin typeface="Source Serif 4"/>
                <a:ea typeface="Source Serif 4"/>
              </a:rPr>
              <a:t>of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1321891" y="2609552"/>
            <a:ext cx="1971377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650">
                <a:solidFill>
                  <a:srgbClr val="c1502e"/>
                </a:solidFill>
                <a:latin typeface="Instrument Serif"/>
                <a:ea typeface="Instrument Serif"/>
              </a:rPr>
              <a:t>Authentic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762000" y="3242667"/>
            <a:ext cx="167506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650">
                <a:solidFill>
                  <a:srgbClr val="1f1410"/>
                </a:solidFill>
                <a:latin typeface="Source Serif 4"/>
                <a:ea typeface="Source Serif 4"/>
              </a:rPr>
              <a:t>Roman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762000" y="3856732"/>
            <a:ext cx="2433637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650">
                <a:solidFill>
                  <a:srgbClr val="1f1410"/>
                </a:solidFill>
                <a:latin typeface="Source Serif 4"/>
                <a:ea typeface="Source Serif 4"/>
              </a:rPr>
              <a:t>Carbonara</a:t>
            </a:r>
          </a:p>
        </p:txBody>
      </p:sp>
      <p:sp>
        <p:nvSpPr>
          <p:cNvPr id="110" name="R110"/>
          <p:cNvSpPr/>
          <p:nvPr/>
        </p:nvSpPr>
        <p:spPr>
          <a:xfrm>
            <a:off x="762000" y="4832746"/>
            <a:ext cx="171450" cy="9525"/>
          </a:xfrm>
          <a:prstGeom prst="rect">
            <a:avLst/>
          </a:prstGeom>
          <a:solidFill>
            <a:srgbClr val="4a3a30">
              <a:alpha val="50000"/>
            </a:srgbClr>
          </a:solidFill>
        </p:spPr>
      </p:sp>
      <p:sp>
        <p:nvSpPr>
          <p:cNvPr id="111" name="T111"/>
          <p:cNvSpPr txBox="1"/>
          <p:nvPr/>
        </p:nvSpPr>
        <p:spPr>
          <a:xfrm>
            <a:off x="1066800" y="4799409"/>
            <a:ext cx="146059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A TECHNICAL MANUAL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5372100" y="2200275"/>
            <a:ext cx="2394495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2a1810"/>
                </a:solidFill>
                <a:latin typeface="Source Serif 4"/>
                <a:ea typeface="Source Serif 4"/>
              </a:rPr>
              <a:t>The ultimate guide to achieving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766595" y="2190750"/>
            <a:ext cx="101575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perfect emulsion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8782347" y="2200275"/>
            <a:ext cx="1877615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2a1810"/>
                </a:solidFill>
                <a:latin typeface="Source Serif 4"/>
                <a:ea typeface="Source Serif 4"/>
              </a:rPr>
              <a:t>, rich flavor, and culinary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372100" y="2495847"/>
            <a:ext cx="2288083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2a1810"/>
                </a:solidFill>
                <a:latin typeface="Source Serif 4"/>
                <a:ea typeface="Source Serif 4"/>
              </a:rPr>
              <a:t>gold—without a drop of cream.</a:t>
            </a:r>
          </a:p>
        </p:txBody>
      </p:sp>
      <p:sp>
        <p:nvSpPr>
          <p:cNvPr id="116" name="L116"/>
          <p:cNvSpPr/>
          <p:nvPr/>
        </p:nvSpPr>
        <p:spPr>
          <a:xfrm>
            <a:off x="5372100" y="3012578"/>
            <a:ext cx="9525" cy="501848"/>
          </a:xfrm>
          <a:prstGeom prst="line">
            <a:avLst/>
          </a:prstGeom>
          <a:noFill/>
          <a:ln w="12700">
            <a:solidFill>
              <a:srgbClr val="c1502e"/>
            </a:solidFill>
          </a:ln>
        </p:spPr>
      </p:sp>
      <p:sp>
        <p:nvSpPr>
          <p:cNvPr id="117" name="T117"/>
          <p:cNvSpPr txBox="1"/>
          <p:nvPr/>
        </p:nvSpPr>
        <p:spPr>
          <a:xfrm>
            <a:off x="5553075" y="3079253"/>
            <a:ext cx="4345930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4a3a30"/>
                </a:solidFill>
                <a:latin typeface="Instrument Serif"/>
                <a:ea typeface="Instrument Serif"/>
              </a:rPr>
              <a:t>“ Simplicity is the ultimate sophistication. The Romans knew this with five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5553075" y="3330178"/>
            <a:ext cx="2019746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4a3a30"/>
                </a:solidFill>
                <a:latin typeface="Instrument Serif"/>
                <a:ea typeface="Instrument Serif"/>
              </a:rPr>
              <a:t>ingredients and a wooden spoon. ”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5372100" y="3919239"/>
            <a:ext cx="814982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1f1410"/>
                </a:solidFill>
                <a:latin typeface="Inter"/>
                <a:ea typeface="Inter"/>
              </a:rPr>
              <a:t>12 LESSONS</a:t>
            </a:r>
          </a:p>
        </p:txBody>
      </p:sp>
      <p:sp>
        <p:nvSpPr>
          <p:cNvPr id="120" name="R120"/>
          <p:cNvSpPr/>
          <p:nvPr/>
        </p:nvSpPr>
        <p:spPr>
          <a:xfrm>
            <a:off x="6339482" y="3938289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a3c">
              <a:alpha val="60000"/>
            </a:srgbClr>
          </a:solidFill>
        </p:spPr>
      </p:sp>
      <p:sp>
        <p:nvSpPr>
          <p:cNvPr id="121" name="T121"/>
          <p:cNvSpPr txBox="1"/>
          <p:nvPr/>
        </p:nvSpPr>
        <p:spPr>
          <a:xfrm>
            <a:off x="6529982" y="3919239"/>
            <a:ext cx="104402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1f1410"/>
                </a:solidFill>
                <a:latin typeface="Inter"/>
                <a:ea typeface="Inter"/>
              </a:rPr>
              <a:t>5 INGREDIENTS</a:t>
            </a:r>
          </a:p>
        </p:txBody>
      </p:sp>
      <p:sp>
        <p:nvSpPr>
          <p:cNvPr id="122" name="R122"/>
          <p:cNvSpPr/>
          <p:nvPr/>
        </p:nvSpPr>
        <p:spPr>
          <a:xfrm>
            <a:off x="7726412" y="3938289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a3c">
              <a:alpha val="60000"/>
            </a:srgbClr>
          </a:solidFill>
        </p:spPr>
      </p:sp>
      <p:sp>
        <p:nvSpPr>
          <p:cNvPr id="123" name="T123"/>
          <p:cNvSpPr txBox="1"/>
          <p:nvPr/>
        </p:nvSpPr>
        <p:spPr>
          <a:xfrm>
            <a:off x="7916912" y="3919239"/>
            <a:ext cx="4150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c1502e"/>
                </a:solidFill>
                <a:latin typeface="Inter"/>
                <a:ea typeface="Inter"/>
              </a:rPr>
              <a:t>BEGIN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8408193" y="3914477"/>
            <a:ext cx="1238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c1502e"/>
                </a:solidFill>
                <a:latin typeface="Source Serif 4"/>
                <a:ea typeface="Source Serif 4"/>
              </a:rPr>
              <a:t>→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9568011" y="538162"/>
            <a:ext cx="1094482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ROMAN CUISINE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0662493" y="538162"/>
            <a:ext cx="4286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PASTA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063525" y="6167437"/>
            <a:ext cx="220548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MASTERCLASS · ITALIAN PASTA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" name="R133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134" name="R134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135" name="R135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136" name="T136"/>
          <p:cNvSpPr txBox="1"/>
          <p:nvPr/>
        </p:nvSpPr>
        <p:spPr>
          <a:xfrm>
            <a:off x="762000" y="1452562"/>
            <a:ext cx="2044154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PART I · THE FOUNDATIONS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762000" y="2071687"/>
            <a:ext cx="764678" cy="171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000">
                <a:solidFill>
                  <a:srgbClr val="c1502e"/>
                </a:solidFill>
                <a:latin typeface="Instrument Serif"/>
                <a:ea typeface="Instrument Serif"/>
              </a:rPr>
              <a:t>01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762000" y="3424237"/>
            <a:ext cx="1354633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300">
                <a:solidFill>
                  <a:srgbClr val="1f1410"/>
                </a:solidFill>
                <a:latin typeface="Source Serif 4"/>
                <a:ea typeface="Source Serif 4"/>
              </a:rPr>
              <a:t>The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2116633" y="3405187"/>
            <a:ext cx="1087338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300">
                <a:solidFill>
                  <a:srgbClr val="c1502e"/>
                </a:solidFill>
                <a:latin typeface="Instrument Serif"/>
                <a:ea typeface="Instrument Serif"/>
              </a:rPr>
              <a:t>Five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3203971" y="3424237"/>
            <a:ext cx="5275659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300">
                <a:solidFill>
                  <a:srgbClr val="1f1410"/>
                </a:solidFill>
                <a:latin typeface="Source Serif 4"/>
                <a:ea typeface="Source Serif 4"/>
              </a:rPr>
              <a:t>Sacred Elements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762000" y="4487912"/>
            <a:ext cx="620940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Traditional Roman cooking relies on simplicity and technique over complicated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762000" y="4792265"/>
            <a:ext cx="383425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ingredients. Carbonara is constructed using only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596258" y="4782740"/>
            <a:ext cx="225028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c1502e"/>
                </a:solidFill>
                <a:latin typeface="Instrument Serif"/>
                <a:ea typeface="Instrument Serif"/>
              </a:rPr>
              <a:t>five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821287" y="4792265"/>
            <a:ext cx="188669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high-quality elements—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62000" y="5093940"/>
            <a:ext cx="215160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nothing more, nothing less.</a:t>
            </a:r>
          </a:p>
        </p:txBody>
      </p:sp>
      <p:sp>
        <p:nvSpPr>
          <p:cNvPr id="146" name="R146"/>
          <p:cNvSpPr/>
          <p:nvPr/>
        </p:nvSpPr>
        <p:spPr>
          <a:xfrm>
            <a:off x="762000" y="5760243"/>
            <a:ext cx="10668000" cy="792360"/>
          </a:xfrm>
          <a:prstGeom prst="rect">
            <a:avLst/>
          </a:prstGeom>
          <a:solidFill>
            <a:srgbClr val="c1502e">
              <a:alpha val="6000"/>
            </a:srgbClr>
          </a:solidFill>
        </p:spPr>
      </p:sp>
      <p:sp>
        <p:nvSpPr>
          <p:cNvPr id="147" name="L147"/>
          <p:cNvSpPr/>
          <p:nvPr/>
        </p:nvSpPr>
        <p:spPr>
          <a:xfrm>
            <a:off x="762000" y="5760243"/>
            <a:ext cx="9525" cy="792360"/>
          </a:xfrm>
          <a:prstGeom prst="line">
            <a:avLst/>
          </a:prstGeom>
          <a:noFill/>
          <a:ln w="25400">
            <a:solidFill>
              <a:srgbClr val="c1502e"/>
            </a:solidFill>
          </a:ln>
        </p:spPr>
      </p:sp>
      <p:sp>
        <p:nvSpPr>
          <p:cNvPr id="148" name="T148"/>
          <p:cNvSpPr txBox="1"/>
          <p:nvPr/>
        </p:nvSpPr>
        <p:spPr>
          <a:xfrm>
            <a:off x="1066800" y="6084093"/>
            <a:ext cx="42177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c1502e"/>
                </a:solidFill>
                <a:latin typeface="Instrument Serif"/>
                <a:ea typeface="Instrument Serif"/>
              </a:rPr>
              <a:t>Pasta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507628" y="6103143"/>
            <a:ext cx="19556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2a1810"/>
                </a:solidFill>
                <a:latin typeface="Source Serif 4"/>
                <a:ea typeface="Source Serif 4"/>
              </a:rPr>
              <a:t>+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722239" y="6084093"/>
            <a:ext cx="796379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c1502e"/>
                </a:solidFill>
                <a:latin typeface="Instrument Serif"/>
                <a:ea typeface="Instrument Serif"/>
              </a:rPr>
              <a:t>Guanciale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2537668" y="6103143"/>
            <a:ext cx="19556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2a1810"/>
                </a:solidFill>
                <a:latin typeface="Source Serif 4"/>
                <a:ea typeface="Source Serif 4"/>
              </a:rPr>
              <a:t>+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752278" y="6084093"/>
            <a:ext cx="390376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c1502e"/>
                </a:solidFill>
                <a:latin typeface="Instrument Serif"/>
                <a:ea typeface="Instrument Serif"/>
              </a:rPr>
              <a:t>Yolks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161704" y="6103143"/>
            <a:ext cx="19556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2a1810"/>
                </a:solidFill>
                <a:latin typeface="Source Serif 4"/>
                <a:ea typeface="Source Serif 4"/>
              </a:rPr>
              <a:t>+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376314" y="6084093"/>
            <a:ext cx="67523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c1502e"/>
                </a:solidFill>
                <a:latin typeface="Instrument Serif"/>
                <a:ea typeface="Instrument Serif"/>
              </a:rPr>
              <a:t>Pecorino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4070598" y="6103143"/>
            <a:ext cx="19556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2a1810"/>
                </a:solidFill>
                <a:latin typeface="Source Serif 4"/>
                <a:ea typeface="Source Serif 4"/>
              </a:rPr>
              <a:t>+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4285208" y="6084093"/>
            <a:ext cx="51628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c1502e"/>
                </a:solidFill>
                <a:latin typeface="Instrument Serif"/>
                <a:ea typeface="Instrument Serif"/>
              </a:rPr>
              <a:t>Pepper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4820542" y="6103143"/>
            <a:ext cx="28813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2a1810"/>
                </a:solidFill>
                <a:latin typeface="Source Serif 4"/>
                <a:ea typeface="Source Serif 4"/>
              </a:rPr>
              <a:t>=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127724" y="6084093"/>
            <a:ext cx="85144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c1502e"/>
                </a:solidFill>
                <a:latin typeface="Instrument Serif"/>
                <a:ea typeface="Instrument Serif"/>
              </a:rPr>
              <a:t>Carbonara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508331" y="538162"/>
            <a:ext cx="67285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PART ONE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0181183" y="538162"/>
            <a:ext cx="90993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INGREDIENTS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1063525" y="6167437"/>
            <a:ext cx="160064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PART I · FOUNDATIONS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7" name="R167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168" name="R168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169" name="R169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170" name="T170"/>
          <p:cNvSpPr txBox="1"/>
          <p:nvPr/>
        </p:nvSpPr>
        <p:spPr>
          <a:xfrm>
            <a:off x="762000" y="1452562"/>
            <a:ext cx="194667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THE PANTRY · FIVE ROLES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762000" y="1824037"/>
            <a:ext cx="281166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600">
                <a:solidFill>
                  <a:srgbClr val="1f1410"/>
                </a:solidFill>
                <a:latin typeface="Source Serif 4"/>
                <a:ea typeface="Source Serif 4"/>
              </a:rPr>
              <a:t>The Ingredient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3573660" y="1814512"/>
            <a:ext cx="1076771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600">
                <a:solidFill>
                  <a:srgbClr val="c1502e"/>
                </a:solidFill>
                <a:latin typeface="Instrument Serif"/>
                <a:ea typeface="Instrument Serif"/>
              </a:rPr>
              <a:t>Matrix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762000" y="2351633"/>
            <a:ext cx="4271962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4a3a30"/>
                </a:solidFill>
                <a:latin typeface="Source Serif 4"/>
                <a:ea typeface="Source Serif 4"/>
              </a:rPr>
              <a:t>Five elements, five roles — and why substitutes only sometimes work.</a:t>
            </a:r>
          </a:p>
        </p:txBody>
      </p:sp>
      <p:sp>
        <p:nvSpPr>
          <p:cNvPr id="174" name="L174"/>
          <p:cNvSpPr/>
          <p:nvPr/>
        </p:nvSpPr>
        <p:spPr>
          <a:xfrm>
            <a:off x="762000" y="2818358"/>
            <a:ext cx="10668000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175" name="L175"/>
          <p:cNvSpPr/>
          <p:nvPr/>
        </p:nvSpPr>
        <p:spPr>
          <a:xfrm>
            <a:off x="762000" y="5817244"/>
            <a:ext cx="10668000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176" name="L176"/>
          <p:cNvSpPr/>
          <p:nvPr/>
        </p:nvSpPr>
        <p:spPr>
          <a:xfrm>
            <a:off x="762000" y="3151733"/>
            <a:ext cx="1333500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77" name="T177"/>
          <p:cNvSpPr txBox="1"/>
          <p:nvPr/>
        </p:nvSpPr>
        <p:spPr>
          <a:xfrm>
            <a:off x="762000" y="2956470"/>
            <a:ext cx="566886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ELEMENT</a:t>
            </a:r>
          </a:p>
        </p:txBody>
      </p:sp>
      <p:sp>
        <p:nvSpPr>
          <p:cNvPr id="178" name="L178"/>
          <p:cNvSpPr/>
          <p:nvPr/>
        </p:nvSpPr>
        <p:spPr>
          <a:xfrm>
            <a:off x="2095500" y="3151733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79" name="T179"/>
          <p:cNvSpPr txBox="1"/>
          <p:nvPr/>
        </p:nvSpPr>
        <p:spPr>
          <a:xfrm>
            <a:off x="2095500" y="2956470"/>
            <a:ext cx="711993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AUTHENTIC</a:t>
            </a:r>
          </a:p>
        </p:txBody>
      </p:sp>
      <p:sp>
        <p:nvSpPr>
          <p:cNvPr id="180" name="L180"/>
          <p:cNvSpPr/>
          <p:nvPr/>
        </p:nvSpPr>
        <p:spPr>
          <a:xfrm>
            <a:off x="5012531" y="3151733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81" name="T181"/>
          <p:cNvSpPr txBox="1"/>
          <p:nvPr/>
        </p:nvSpPr>
        <p:spPr>
          <a:xfrm>
            <a:off x="5012531" y="2956470"/>
            <a:ext cx="1107578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ACCEPTABLE ALT.</a:t>
            </a:r>
          </a:p>
        </p:txBody>
      </p:sp>
      <p:sp>
        <p:nvSpPr>
          <p:cNvPr id="182" name="L182"/>
          <p:cNvSpPr/>
          <p:nvPr/>
        </p:nvSpPr>
        <p:spPr>
          <a:xfrm>
            <a:off x="7929562" y="3151733"/>
            <a:ext cx="350043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83" name="T183"/>
          <p:cNvSpPr txBox="1"/>
          <p:nvPr/>
        </p:nvSpPr>
        <p:spPr>
          <a:xfrm>
            <a:off x="7929562" y="2956470"/>
            <a:ext cx="1113978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ROLE IN THE DISH</a:t>
            </a:r>
          </a:p>
        </p:txBody>
      </p:sp>
      <p:sp>
        <p:nvSpPr>
          <p:cNvPr id="184" name="L184"/>
          <p:cNvSpPr/>
          <p:nvPr/>
        </p:nvSpPr>
        <p:spPr>
          <a:xfrm>
            <a:off x="762000" y="3826519"/>
            <a:ext cx="1333500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85" name="T185"/>
          <p:cNvSpPr txBox="1"/>
          <p:nvPr/>
        </p:nvSpPr>
        <p:spPr>
          <a:xfrm>
            <a:off x="762000" y="3337470"/>
            <a:ext cx="318343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1f1410"/>
                </a:solidFill>
                <a:latin typeface="Source Serif 4"/>
                <a:ea typeface="Source Serif 4"/>
              </a:rPr>
              <a:t>Pork</a:t>
            </a:r>
          </a:p>
        </p:txBody>
      </p:sp>
      <p:sp>
        <p:nvSpPr>
          <p:cNvPr id="186" name="L186"/>
          <p:cNvSpPr/>
          <p:nvPr/>
        </p:nvSpPr>
        <p:spPr>
          <a:xfrm>
            <a:off x="2095500" y="3826519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87" name="T187"/>
          <p:cNvSpPr txBox="1"/>
          <p:nvPr/>
        </p:nvSpPr>
        <p:spPr>
          <a:xfrm>
            <a:off x="2095500" y="3337470"/>
            <a:ext cx="549026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Instrument Serif"/>
                <a:ea typeface="Instrument Serif"/>
              </a:rPr>
              <a:t>Guanciale</a:t>
            </a:r>
          </a:p>
        </p:txBody>
      </p:sp>
      <p:sp>
        <p:nvSpPr>
          <p:cNvPr id="188" name="L188"/>
          <p:cNvSpPr/>
          <p:nvPr/>
        </p:nvSpPr>
        <p:spPr>
          <a:xfrm>
            <a:off x="5012531" y="3826519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89" name="T189"/>
          <p:cNvSpPr txBox="1"/>
          <p:nvPr/>
        </p:nvSpPr>
        <p:spPr>
          <a:xfrm>
            <a:off x="5012531" y="3337470"/>
            <a:ext cx="1220241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Pancetta (less ideal)</a:t>
            </a:r>
          </a:p>
        </p:txBody>
      </p:sp>
      <p:sp>
        <p:nvSpPr>
          <p:cNvPr id="190" name="L190"/>
          <p:cNvSpPr/>
          <p:nvPr/>
        </p:nvSpPr>
        <p:spPr>
          <a:xfrm>
            <a:off x="7929562" y="3826519"/>
            <a:ext cx="350043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91" name="T191"/>
          <p:cNvSpPr txBox="1"/>
          <p:nvPr/>
        </p:nvSpPr>
        <p:spPr>
          <a:xfrm>
            <a:off x="7929562" y="3337470"/>
            <a:ext cx="3212008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Renders the savory, peppery fat base that carries the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7929562" y="3536751"/>
            <a:ext cx="382190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sauce.</a:t>
            </a:r>
          </a:p>
        </p:txBody>
      </p:sp>
      <p:sp>
        <p:nvSpPr>
          <p:cNvPr id="193" name="L193"/>
          <p:cNvSpPr/>
          <p:nvPr/>
        </p:nvSpPr>
        <p:spPr>
          <a:xfrm>
            <a:off x="762000" y="4324201"/>
            <a:ext cx="1333500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94" name="T194"/>
          <p:cNvSpPr txBox="1"/>
          <p:nvPr/>
        </p:nvSpPr>
        <p:spPr>
          <a:xfrm>
            <a:off x="762000" y="4012257"/>
            <a:ext cx="476845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1f1410"/>
                </a:solidFill>
                <a:latin typeface="Source Serif 4"/>
                <a:ea typeface="Source Serif 4"/>
              </a:rPr>
              <a:t>Cheese</a:t>
            </a:r>
          </a:p>
        </p:txBody>
      </p:sp>
      <p:sp>
        <p:nvSpPr>
          <p:cNvPr id="195" name="L195"/>
          <p:cNvSpPr/>
          <p:nvPr/>
        </p:nvSpPr>
        <p:spPr>
          <a:xfrm>
            <a:off x="2095500" y="4324201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96" name="T196"/>
          <p:cNvSpPr txBox="1"/>
          <p:nvPr/>
        </p:nvSpPr>
        <p:spPr>
          <a:xfrm>
            <a:off x="2095500" y="4012257"/>
            <a:ext cx="941933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Instrument Serif"/>
                <a:ea typeface="Instrument Serif"/>
              </a:rPr>
              <a:t>Pecorino Romano</a:t>
            </a:r>
          </a:p>
        </p:txBody>
      </p:sp>
      <p:sp>
        <p:nvSpPr>
          <p:cNvPr id="197" name="L197"/>
          <p:cNvSpPr/>
          <p:nvPr/>
        </p:nvSpPr>
        <p:spPr>
          <a:xfrm>
            <a:off x="5012531" y="4324201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198" name="T198"/>
          <p:cNvSpPr txBox="1"/>
          <p:nvPr/>
        </p:nvSpPr>
        <p:spPr>
          <a:xfrm>
            <a:off x="5012531" y="4012257"/>
            <a:ext cx="1329183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Parmigiano-Reggiano</a:t>
            </a:r>
          </a:p>
        </p:txBody>
      </p:sp>
      <p:sp>
        <p:nvSpPr>
          <p:cNvPr id="199" name="L199"/>
          <p:cNvSpPr/>
          <p:nvPr/>
        </p:nvSpPr>
        <p:spPr>
          <a:xfrm>
            <a:off x="7929562" y="4324201"/>
            <a:ext cx="350043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00" name="T200"/>
          <p:cNvSpPr txBox="1"/>
          <p:nvPr/>
        </p:nvSpPr>
        <p:spPr>
          <a:xfrm>
            <a:off x="7929562" y="4012257"/>
            <a:ext cx="3177480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Thickens, salts, and adds the sharp backbone flavor.</a:t>
            </a:r>
          </a:p>
        </p:txBody>
      </p:sp>
      <p:sp>
        <p:nvSpPr>
          <p:cNvPr id="201" name="L201"/>
          <p:cNvSpPr/>
          <p:nvPr/>
        </p:nvSpPr>
        <p:spPr>
          <a:xfrm>
            <a:off x="762000" y="4821882"/>
            <a:ext cx="1333500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02" name="T202"/>
          <p:cNvSpPr txBox="1"/>
          <p:nvPr/>
        </p:nvSpPr>
        <p:spPr>
          <a:xfrm>
            <a:off x="762000" y="4509938"/>
            <a:ext cx="312985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1f1410"/>
                </a:solidFill>
                <a:latin typeface="Source Serif 4"/>
                <a:ea typeface="Source Serif 4"/>
              </a:rPr>
              <a:t>Eggs</a:t>
            </a:r>
          </a:p>
        </p:txBody>
      </p:sp>
      <p:sp>
        <p:nvSpPr>
          <p:cNvPr id="203" name="L203"/>
          <p:cNvSpPr/>
          <p:nvPr/>
        </p:nvSpPr>
        <p:spPr>
          <a:xfrm>
            <a:off x="2095500" y="4821882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04" name="T204"/>
          <p:cNvSpPr txBox="1"/>
          <p:nvPr/>
        </p:nvSpPr>
        <p:spPr>
          <a:xfrm>
            <a:off x="2095500" y="4509938"/>
            <a:ext cx="882401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Instrument Serif"/>
                <a:ea typeface="Instrument Serif"/>
              </a:rPr>
              <a:t>Fresh Farm Yolks</a:t>
            </a:r>
          </a:p>
        </p:txBody>
      </p:sp>
      <p:sp>
        <p:nvSpPr>
          <p:cNvPr id="205" name="L205"/>
          <p:cNvSpPr/>
          <p:nvPr/>
        </p:nvSpPr>
        <p:spPr>
          <a:xfrm>
            <a:off x="5012531" y="4821882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06" name="T206"/>
          <p:cNvSpPr txBox="1"/>
          <p:nvPr/>
        </p:nvSpPr>
        <p:spPr>
          <a:xfrm>
            <a:off x="5012531" y="4509938"/>
            <a:ext cx="1502866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Whole eggs + extra yolks</a:t>
            </a:r>
          </a:p>
        </p:txBody>
      </p:sp>
      <p:sp>
        <p:nvSpPr>
          <p:cNvPr id="207" name="L207"/>
          <p:cNvSpPr/>
          <p:nvPr/>
        </p:nvSpPr>
        <p:spPr>
          <a:xfrm>
            <a:off x="7929562" y="4821882"/>
            <a:ext cx="350043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08" name="T208"/>
          <p:cNvSpPr txBox="1"/>
          <p:nvPr/>
        </p:nvSpPr>
        <p:spPr>
          <a:xfrm>
            <a:off x="7929562" y="4509938"/>
            <a:ext cx="3042195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Natural emulsifier — binds fat and water into silk.</a:t>
            </a:r>
          </a:p>
        </p:txBody>
      </p:sp>
      <p:sp>
        <p:nvSpPr>
          <p:cNvPr id="209" name="L209"/>
          <p:cNvSpPr/>
          <p:nvPr/>
        </p:nvSpPr>
        <p:spPr>
          <a:xfrm>
            <a:off x="762000" y="5319563"/>
            <a:ext cx="1333500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10" name="T210"/>
          <p:cNvSpPr txBox="1"/>
          <p:nvPr/>
        </p:nvSpPr>
        <p:spPr>
          <a:xfrm>
            <a:off x="762000" y="5007619"/>
            <a:ext cx="361503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1f1410"/>
                </a:solidFill>
                <a:latin typeface="Source Serif 4"/>
                <a:ea typeface="Source Serif 4"/>
              </a:rPr>
              <a:t>Pasta</a:t>
            </a:r>
          </a:p>
        </p:txBody>
      </p:sp>
      <p:sp>
        <p:nvSpPr>
          <p:cNvPr id="211" name="L211"/>
          <p:cNvSpPr/>
          <p:nvPr/>
        </p:nvSpPr>
        <p:spPr>
          <a:xfrm>
            <a:off x="2095500" y="5319563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12" name="T212"/>
          <p:cNvSpPr txBox="1"/>
          <p:nvPr/>
        </p:nvSpPr>
        <p:spPr>
          <a:xfrm>
            <a:off x="2095500" y="5007619"/>
            <a:ext cx="112915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Instrument Serif"/>
                <a:ea typeface="Instrument Serif"/>
              </a:rPr>
              <a:t>Spaghetti or Rigatoni</a:t>
            </a:r>
          </a:p>
        </p:txBody>
      </p:sp>
      <p:sp>
        <p:nvSpPr>
          <p:cNvPr id="213" name="L213"/>
          <p:cNvSpPr/>
          <p:nvPr/>
        </p:nvSpPr>
        <p:spPr>
          <a:xfrm>
            <a:off x="5012531" y="5319563"/>
            <a:ext cx="2917031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14" name="T214"/>
          <p:cNvSpPr txBox="1"/>
          <p:nvPr/>
        </p:nvSpPr>
        <p:spPr>
          <a:xfrm>
            <a:off x="5012531" y="5007619"/>
            <a:ext cx="1193452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Bucatini, tonnarelli</a:t>
            </a:r>
          </a:p>
        </p:txBody>
      </p:sp>
      <p:sp>
        <p:nvSpPr>
          <p:cNvPr id="215" name="L215"/>
          <p:cNvSpPr/>
          <p:nvPr/>
        </p:nvSpPr>
        <p:spPr>
          <a:xfrm>
            <a:off x="7929562" y="5319563"/>
            <a:ext cx="350043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16" name="T216"/>
          <p:cNvSpPr txBox="1"/>
          <p:nvPr/>
        </p:nvSpPr>
        <p:spPr>
          <a:xfrm>
            <a:off x="7929562" y="5007619"/>
            <a:ext cx="2591395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Carries starch; the hidden fifth ingredient.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762000" y="5505301"/>
            <a:ext cx="478482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1f1410"/>
                </a:solidFill>
                <a:latin typeface="Source Serif 4"/>
                <a:ea typeface="Source Serif 4"/>
              </a:rPr>
              <a:t>Pepper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2095500" y="5505301"/>
            <a:ext cx="1320403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Instrument Serif"/>
                <a:ea typeface="Instrument Serif"/>
              </a:rPr>
              <a:t>Tellicherry, cracked fresh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5012531" y="5505301"/>
            <a:ext cx="1245542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Coarse black pepper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7929562" y="5505301"/>
            <a:ext cx="2327969" cy="192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12">
                <a:solidFill>
                  <a:srgbClr val="4a3a30"/>
                </a:solidFill>
                <a:latin typeface="Source Serif 4"/>
                <a:ea typeface="Source Serif 4"/>
              </a:rPr>
              <a:t>Cuts through rich fat with gentle heat.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9508331" y="538162"/>
            <a:ext cx="67285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PART ONE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10181183" y="538162"/>
            <a:ext cx="90993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INGREDIENTS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1063525" y="6167437"/>
            <a:ext cx="86379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THE PANTRY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9" name="R229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230" name="R230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231" name="R231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232" name="T232"/>
          <p:cNvSpPr txBox="1"/>
          <p:nvPr/>
        </p:nvSpPr>
        <p:spPr>
          <a:xfrm>
            <a:off x="762000" y="1452562"/>
            <a:ext cx="3166764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INGREDIENT SPOTLIGHT · THE EMULSIFIER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762000" y="1947862"/>
            <a:ext cx="883741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The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1645741" y="1938337"/>
            <a:ext cx="764381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Soul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2410122" y="1947862"/>
            <a:ext cx="2376189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of the Dish: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762000" y="2492275"/>
            <a:ext cx="935087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Eggs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762000" y="3303389"/>
            <a:ext cx="16551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1f1410"/>
                </a:solidFill>
                <a:latin typeface="Source Serif 4"/>
                <a:ea typeface="Source Serif 4"/>
              </a:rPr>
              <a:t>Why only yolks matter.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2417117" y="3303389"/>
            <a:ext cx="27537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Velvety creaminess is strictly achieved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762000" y="3565475"/>
            <a:ext cx="41734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through the natural emulsion of yolk, hot starch water, and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762000" y="3827561"/>
            <a:ext cx="4053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rendered guanciale fat. The lecithin in yolks is the magic.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762000" y="4299198"/>
            <a:ext cx="18240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1f1410"/>
                </a:solidFill>
                <a:latin typeface="Source Serif 4"/>
                <a:ea typeface="Source Serif 4"/>
              </a:rPr>
              <a:t>The problem with cream.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2586037" y="4299198"/>
            <a:ext cx="2385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Cream dilutes the deep umami of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762000" y="4561284"/>
            <a:ext cx="47883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guanciale and prevents proper starch binding. It masks, rather than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762000" y="4823370"/>
            <a:ext cx="30304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reveals, what good ingredients already are.</a:t>
            </a:r>
          </a:p>
        </p:txBody>
      </p:sp>
      <p:sp>
        <p:nvSpPr>
          <p:cNvPr id="245" name="L245"/>
          <p:cNvSpPr/>
          <p:nvPr/>
        </p:nvSpPr>
        <p:spPr>
          <a:xfrm>
            <a:off x="762000" y="5295007"/>
            <a:ext cx="9525" cy="844748"/>
          </a:xfrm>
          <a:prstGeom prst="line">
            <a:avLst/>
          </a:prstGeom>
          <a:noFill/>
          <a:ln w="12700">
            <a:solidFill>
              <a:srgbClr val="c1502e"/>
            </a:solidFill>
          </a:ln>
        </p:spPr>
      </p:sp>
      <p:sp>
        <p:nvSpPr>
          <p:cNvPr id="246" name="T246"/>
          <p:cNvSpPr txBox="1"/>
          <p:nvPr/>
        </p:nvSpPr>
        <p:spPr>
          <a:xfrm>
            <a:off x="962025" y="5533132"/>
            <a:ext cx="3216324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4a3a30"/>
                </a:solidFill>
                <a:latin typeface="Instrument Serif"/>
                <a:ea typeface="Instrument Serif"/>
              </a:rPr>
              <a:t>“ When the egg hits the warm pasta, it doesn't cook — it</a:t>
            </a:r>
          </a:p>
        </p:txBody>
      </p:sp>
      <p:sp>
        <p:nvSpPr>
          <p:cNvPr id="247" name="T247"/>
          <p:cNvSpPr txBox="1"/>
          <p:nvPr/>
        </p:nvSpPr>
        <p:spPr>
          <a:xfrm>
            <a:off x="4178349" y="5533132"/>
            <a:ext cx="312985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4a3a30"/>
                </a:solidFill>
                <a:latin typeface="Instrument Serif"/>
                <a:ea typeface="Instrument Serif"/>
              </a:rPr>
              <a:t>melts</a:t>
            </a:r>
          </a:p>
        </p:txBody>
      </p:sp>
      <p:sp>
        <p:nvSpPr>
          <p:cNvPr id="248" name="T248"/>
          <p:cNvSpPr txBox="1"/>
          <p:nvPr/>
        </p:nvSpPr>
        <p:spPr>
          <a:xfrm>
            <a:off x="4491335" y="5533132"/>
            <a:ext cx="632073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4a3a30"/>
                </a:solidFill>
                <a:latin typeface="Instrument Serif"/>
                <a:ea typeface="Instrument Serif"/>
              </a:rPr>
              <a:t>. That's the</a:t>
            </a:r>
          </a:p>
        </p:txBody>
      </p:sp>
      <p:sp>
        <p:nvSpPr>
          <p:cNvPr id="249" name="T249"/>
          <p:cNvSpPr txBox="1"/>
          <p:nvPr/>
        </p:nvSpPr>
        <p:spPr>
          <a:xfrm>
            <a:off x="962025" y="5784056"/>
            <a:ext cx="696366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75">
                <a:solidFill>
                  <a:srgbClr val="4a3a30"/>
                </a:solidFill>
                <a:latin typeface="Instrument Serif"/>
                <a:ea typeface="Instrument Serif"/>
              </a:rPr>
              <a:t>difference. ”</a:t>
            </a:r>
          </a:p>
        </p:txBody>
      </p:sp>
      <p:sp>
        <p:nvSpPr>
          <p:cNvPr id="250" name="T250"/>
          <p:cNvSpPr txBox="1"/>
          <p:nvPr/>
        </p:nvSpPr>
        <p:spPr>
          <a:xfrm>
            <a:off x="8272239" y="1583977"/>
            <a:ext cx="102676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4a3a30"/>
                </a:solidFill>
                <a:latin typeface="Instrument Serif"/>
                <a:ea typeface="Instrument Serif"/>
              </a:rPr>
              <a:t>— fresh farm yolk —</a:t>
            </a:r>
          </a:p>
        </p:txBody>
      </p:sp>
      <p:sp>
        <p:nvSpPr>
          <p:cNvPr id="251" name="T251"/>
          <p:cNvSpPr txBox="1"/>
          <p:nvPr/>
        </p:nvSpPr>
        <p:spPr>
          <a:xfrm>
            <a:off x="8483649" y="3569940"/>
            <a:ext cx="603944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2a1810">
                    <a:alpha val="70000"/>
                  </a:srgbClr>
                </a:solidFill>
                <a:latin typeface="Instrument Serif"/>
                <a:ea typeface="Instrument Serif"/>
              </a:rPr>
              <a:t>100%</a:t>
            </a:r>
          </a:p>
        </p:txBody>
      </p:sp>
      <p:sp>
        <p:nvSpPr>
          <p:cNvPr id="252" name="T252"/>
          <p:cNvSpPr txBox="1"/>
          <p:nvPr/>
        </p:nvSpPr>
        <p:spPr>
          <a:xfrm>
            <a:off x="8183537" y="5779740"/>
            <a:ext cx="1204168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8b5a3c"/>
                </a:solidFill>
                <a:latin typeface="Inter"/>
                <a:ea typeface="Inter"/>
              </a:rPr>
              <a:t>THE EMULSIFIER</a:t>
            </a:r>
          </a:p>
        </p:txBody>
      </p:sp>
      <p:sp>
        <p:nvSpPr>
          <p:cNvPr id="253" name="T253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254" name="T254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255" name="T255"/>
          <p:cNvSpPr txBox="1"/>
          <p:nvPr/>
        </p:nvSpPr>
        <p:spPr>
          <a:xfrm>
            <a:off x="9964489" y="538162"/>
            <a:ext cx="764083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SPOTLIGHT</a:t>
            </a:r>
          </a:p>
        </p:txBody>
      </p:sp>
      <p:sp>
        <p:nvSpPr>
          <p:cNvPr id="256" name="T256"/>
          <p:cNvSpPr txBox="1"/>
          <p:nvPr/>
        </p:nvSpPr>
        <p:spPr>
          <a:xfrm>
            <a:off x="10728573" y="538162"/>
            <a:ext cx="36254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EGGS</a:t>
            </a:r>
          </a:p>
        </p:txBody>
      </p:sp>
      <p:sp>
        <p:nvSpPr>
          <p:cNvPr id="257" name="T257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258" name="T258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259" name="T259"/>
          <p:cNvSpPr txBox="1"/>
          <p:nvPr/>
        </p:nvSpPr>
        <p:spPr>
          <a:xfrm>
            <a:off x="1063525" y="6167437"/>
            <a:ext cx="130685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SPOTLIGHT · EGGS</a:t>
            </a:r>
          </a:p>
        </p:txBody>
      </p:sp>
      <p:sp>
        <p:nvSpPr>
          <p:cNvPr id="260" name="T260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1" name="R261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262" name="R262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263" name="R263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264" name="T264"/>
          <p:cNvSpPr txBox="1"/>
          <p:nvPr/>
        </p:nvSpPr>
        <p:spPr>
          <a:xfrm>
            <a:off x="762000" y="1452562"/>
            <a:ext cx="3452514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THE GUIDING PHILOSOPHY · NON-NEGOTIABLE</a:t>
            </a:r>
          </a:p>
        </p:txBody>
      </p:sp>
      <p:sp>
        <p:nvSpPr>
          <p:cNvPr id="265" name="T265"/>
          <p:cNvSpPr txBox="1"/>
          <p:nvPr/>
        </p:nvSpPr>
        <p:spPr>
          <a:xfrm>
            <a:off x="762000" y="1833562"/>
            <a:ext cx="2174974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The Three</a:t>
            </a:r>
          </a:p>
        </p:txBody>
      </p:sp>
      <p:sp>
        <p:nvSpPr>
          <p:cNvPr id="266" name="T266"/>
          <p:cNvSpPr txBox="1"/>
          <p:nvPr/>
        </p:nvSpPr>
        <p:spPr>
          <a:xfrm>
            <a:off x="2936974" y="1824037"/>
            <a:ext cx="1214437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Golden</a:t>
            </a:r>
          </a:p>
        </p:txBody>
      </p:sp>
      <p:sp>
        <p:nvSpPr>
          <p:cNvPr id="267" name="T267"/>
          <p:cNvSpPr txBox="1"/>
          <p:nvPr/>
        </p:nvSpPr>
        <p:spPr>
          <a:xfrm>
            <a:off x="4151411" y="1833562"/>
            <a:ext cx="1208335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Rules</a:t>
            </a:r>
          </a:p>
        </p:txBody>
      </p:sp>
      <p:sp>
        <p:nvSpPr>
          <p:cNvPr id="268" name="T268"/>
          <p:cNvSpPr txBox="1"/>
          <p:nvPr/>
        </p:nvSpPr>
        <p:spPr>
          <a:xfrm>
            <a:off x="762000" y="2406550"/>
            <a:ext cx="49162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4a3a30"/>
                </a:solidFill>
                <a:latin typeface="Source Serif 4"/>
                <a:ea typeface="Source Serif 4"/>
              </a:rPr>
              <a:t>If you break one, you'll scramble the eggs, mask the pork, or split the sauce.</a:t>
            </a:r>
          </a:p>
        </p:txBody>
      </p:sp>
      <p:sp>
        <p:nvSpPr>
          <p:cNvPr id="269" name="L269"/>
          <p:cNvSpPr/>
          <p:nvPr/>
        </p:nvSpPr>
        <p:spPr>
          <a:xfrm>
            <a:off x="762000" y="2959000"/>
            <a:ext cx="10668000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270" name="L270"/>
          <p:cNvSpPr/>
          <p:nvPr/>
        </p:nvSpPr>
        <p:spPr>
          <a:xfrm>
            <a:off x="4317950" y="2968525"/>
            <a:ext cx="9525" cy="2983408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71" name="T271"/>
          <p:cNvSpPr txBox="1"/>
          <p:nvPr/>
        </p:nvSpPr>
        <p:spPr>
          <a:xfrm>
            <a:off x="762000" y="3387625"/>
            <a:ext cx="220712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I.</a:t>
            </a:r>
          </a:p>
        </p:txBody>
      </p:sp>
      <p:sp>
        <p:nvSpPr>
          <p:cNvPr id="272" name="C272"/>
          <p:cNvSpPr/>
          <p:nvPr/>
        </p:nvSpPr>
        <p:spPr>
          <a:xfrm>
            <a:off x="790575" y="4025798"/>
            <a:ext cx="285750" cy="285750"/>
          </a:xfrm>
          <a:prstGeom prst="ellipse">
            <a:avLst/>
          </a:prstGeom>
          <a:noFill/>
          <a:ln w="19050">
            <a:solidFill>
              <a:srgbClr val="1f1410"/>
            </a:solidFill>
            <a:round/>
          </a:ln>
        </p:spPr>
      </p:sp>
      <p:sp>
        <p:nvSpPr>
          <p:cNvPr id="273" name="L273"/>
          <p:cNvSpPr/>
          <p:nvPr/>
        </p:nvSpPr>
        <p:spPr>
          <a:xfrm>
            <a:off x="832437" y="4067660"/>
            <a:ext cx="202025" cy="202025"/>
          </a:xfrm>
          <a:prstGeom prst="line">
            <a:avLst/>
          </a:prstGeom>
          <a:noFill/>
          <a:ln w="19050">
            <a:solidFill>
              <a:srgbClr val="1f1410"/>
            </a:solidFill>
          </a:ln>
        </p:spPr>
      </p:sp>
      <p:sp>
        <p:nvSpPr>
          <p:cNvPr id="274" name="T274"/>
          <p:cNvSpPr txBox="1"/>
          <p:nvPr/>
        </p:nvSpPr>
        <p:spPr>
          <a:xfrm>
            <a:off x="762000" y="4606825"/>
            <a:ext cx="826293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75">
                <a:solidFill>
                  <a:srgbClr val="1f1410"/>
                </a:solidFill>
                <a:latin typeface="Source Serif 4"/>
                <a:ea typeface="Source Serif 4"/>
              </a:rPr>
              <a:t>Absolute</a:t>
            </a:r>
          </a:p>
        </p:txBody>
      </p:sp>
      <p:sp>
        <p:nvSpPr>
          <p:cNvPr id="275" name="T275"/>
          <p:cNvSpPr txBox="1"/>
          <p:nvPr/>
        </p:nvSpPr>
        <p:spPr>
          <a:xfrm>
            <a:off x="1588293" y="4606825"/>
            <a:ext cx="736550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75">
                <a:solidFill>
                  <a:srgbClr val="c1502e"/>
                </a:solidFill>
                <a:latin typeface="Instrument Serif"/>
                <a:ea typeface="Instrument Serif"/>
              </a:rPr>
              <a:t>No-Cream</a:t>
            </a:r>
          </a:p>
        </p:txBody>
      </p:sp>
      <p:sp>
        <p:nvSpPr>
          <p:cNvPr id="276" name="T276"/>
          <p:cNvSpPr txBox="1"/>
          <p:nvPr/>
        </p:nvSpPr>
        <p:spPr>
          <a:xfrm>
            <a:off x="762000" y="4990355"/>
            <a:ext cx="2755403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Never mask the natural pork fat and sharp</a:t>
            </a:r>
          </a:p>
        </p:txBody>
      </p:sp>
      <p:sp>
        <p:nvSpPr>
          <p:cNvPr id="277" name="T277"/>
          <p:cNvSpPr txBox="1"/>
          <p:nvPr/>
        </p:nvSpPr>
        <p:spPr>
          <a:xfrm>
            <a:off x="762000" y="5214044"/>
            <a:ext cx="2939801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Pecorino with cream. Trust food chemistry —</a:t>
            </a:r>
          </a:p>
        </p:txBody>
      </p:sp>
      <p:sp>
        <p:nvSpPr>
          <p:cNvPr id="278" name="T278"/>
          <p:cNvSpPr txBox="1"/>
          <p:nvPr/>
        </p:nvSpPr>
        <p:spPr>
          <a:xfrm>
            <a:off x="762000" y="5447258"/>
            <a:ext cx="1382910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yolks, fat, and starch</a:t>
            </a:r>
          </a:p>
        </p:txBody>
      </p:sp>
      <p:sp>
        <p:nvSpPr>
          <p:cNvPr id="279" name="T279"/>
          <p:cNvSpPr txBox="1"/>
          <p:nvPr/>
        </p:nvSpPr>
        <p:spPr>
          <a:xfrm>
            <a:off x="2144910" y="5442495"/>
            <a:ext cx="167580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c1502e"/>
                </a:solidFill>
                <a:latin typeface="Instrument Serif"/>
                <a:ea typeface="Instrument Serif"/>
              </a:rPr>
              <a:t>are</a:t>
            </a:r>
          </a:p>
        </p:txBody>
      </p:sp>
      <p:sp>
        <p:nvSpPr>
          <p:cNvPr id="280" name="T280"/>
          <p:cNvSpPr txBox="1"/>
          <p:nvPr/>
        </p:nvSpPr>
        <p:spPr>
          <a:xfrm>
            <a:off x="2312491" y="5447258"/>
            <a:ext cx="682376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the sauce.</a:t>
            </a:r>
          </a:p>
        </p:txBody>
      </p:sp>
      <p:sp>
        <p:nvSpPr>
          <p:cNvPr id="281" name="L281"/>
          <p:cNvSpPr/>
          <p:nvPr/>
        </p:nvSpPr>
        <p:spPr>
          <a:xfrm>
            <a:off x="7873900" y="2968525"/>
            <a:ext cx="9525" cy="2983408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282" name="T282"/>
          <p:cNvSpPr txBox="1"/>
          <p:nvPr/>
        </p:nvSpPr>
        <p:spPr>
          <a:xfrm>
            <a:off x="4317950" y="3387625"/>
            <a:ext cx="339030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II.</a:t>
            </a:r>
          </a:p>
        </p:txBody>
      </p:sp>
      <p:sp>
        <p:nvSpPr>
          <p:cNvPr id="283" name="P283"/>
          <p:cNvSpPr/>
          <p:nvPr/>
        </p:nvSpPr>
        <p:spPr>
          <a:xfrm>
            <a:off x="6476923" y="5834243"/>
            <a:ext cx="171450" cy="2758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72501"/>
                </a:moveTo>
                <a:lnTo>
                  <a:pt x="147166" y="101812"/>
                </a:lnTo>
                <a:close/>
              </a:path>
            </a:pathLst>
          </a:custGeom>
          <a:noFill/>
          <a:ln w="19050">
            <a:solidFill>
              <a:srgbClr val="1f1410"/>
            </a:solidFill>
          </a:ln>
        </p:spPr>
      </p:sp>
      <p:sp>
        <p:nvSpPr>
          <p:cNvPr id="284" name="T284"/>
          <p:cNvSpPr txBox="1"/>
          <p:nvPr/>
        </p:nvSpPr>
        <p:spPr>
          <a:xfrm>
            <a:off x="4317950" y="4606825"/>
            <a:ext cx="894457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75">
                <a:solidFill>
                  <a:srgbClr val="1f1410"/>
                </a:solidFill>
                <a:latin typeface="Source Serif 4"/>
                <a:ea typeface="Source Serif 4"/>
              </a:rPr>
              <a:t>Save Your</a:t>
            </a:r>
          </a:p>
        </p:txBody>
      </p:sp>
      <p:sp>
        <p:nvSpPr>
          <p:cNvPr id="285" name="T285"/>
          <p:cNvSpPr txBox="1"/>
          <p:nvPr/>
        </p:nvSpPr>
        <p:spPr>
          <a:xfrm>
            <a:off x="5212407" y="4606825"/>
            <a:ext cx="396775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75">
                <a:solidFill>
                  <a:srgbClr val="c1502e"/>
                </a:solidFill>
                <a:latin typeface="Instrument Serif"/>
                <a:ea typeface="Instrument Serif"/>
              </a:rPr>
              <a:t>Water</a:t>
            </a:r>
          </a:p>
        </p:txBody>
      </p:sp>
      <p:sp>
        <p:nvSpPr>
          <p:cNvPr id="286" name="T286"/>
          <p:cNvSpPr txBox="1"/>
          <p:nvPr/>
        </p:nvSpPr>
        <p:spPr>
          <a:xfrm>
            <a:off x="4317950" y="4990355"/>
            <a:ext cx="3066752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Pasta starch water is the thermal stabilizer that</a:t>
            </a:r>
          </a:p>
        </p:txBody>
      </p:sp>
      <p:sp>
        <p:nvSpPr>
          <p:cNvPr id="287" name="T287"/>
          <p:cNvSpPr txBox="1"/>
          <p:nvPr/>
        </p:nvSpPr>
        <p:spPr>
          <a:xfrm>
            <a:off x="4317950" y="5214044"/>
            <a:ext cx="3109019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prevents scrambled eggs. A ladleful rescues any</a:t>
            </a:r>
          </a:p>
        </p:txBody>
      </p:sp>
      <p:sp>
        <p:nvSpPr>
          <p:cNvPr id="288" name="T288"/>
          <p:cNvSpPr txBox="1"/>
          <p:nvPr/>
        </p:nvSpPr>
        <p:spPr>
          <a:xfrm>
            <a:off x="4317950" y="5437733"/>
            <a:ext cx="1764357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sauce that's about to break.</a:t>
            </a:r>
          </a:p>
        </p:txBody>
      </p:sp>
      <p:sp>
        <p:nvSpPr>
          <p:cNvPr id="289" name="T289"/>
          <p:cNvSpPr txBox="1"/>
          <p:nvPr/>
        </p:nvSpPr>
        <p:spPr>
          <a:xfrm>
            <a:off x="7873900" y="3387625"/>
            <a:ext cx="457348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III.</a:t>
            </a:r>
          </a:p>
        </p:txBody>
      </p:sp>
      <p:sp>
        <p:nvSpPr>
          <p:cNvPr id="290" name="C290"/>
          <p:cNvSpPr/>
          <p:nvPr/>
        </p:nvSpPr>
        <p:spPr>
          <a:xfrm>
            <a:off x="7902473" y="4025798"/>
            <a:ext cx="285750" cy="285750"/>
          </a:xfrm>
          <a:prstGeom prst="ellipse">
            <a:avLst/>
          </a:prstGeom>
          <a:noFill/>
          <a:ln w="19050">
            <a:solidFill>
              <a:srgbClr val="1f1410"/>
            </a:solidFill>
            <a:round/>
          </a:ln>
        </p:spPr>
      </p:sp>
      <p:sp>
        <p:nvSpPr>
          <p:cNvPr id="291" name="L291"/>
          <p:cNvSpPr/>
          <p:nvPr/>
        </p:nvSpPr>
        <p:spPr>
          <a:xfrm>
            <a:off x="7988198" y="4111523"/>
            <a:ext cx="114300" cy="114300"/>
          </a:xfrm>
          <a:prstGeom prst="line">
            <a:avLst/>
          </a:prstGeom>
          <a:noFill/>
          <a:ln w="19050">
            <a:solidFill>
              <a:srgbClr val="1f1410"/>
            </a:solidFill>
          </a:ln>
        </p:spPr>
      </p:sp>
      <p:sp>
        <p:nvSpPr>
          <p:cNvPr id="292" name="L292"/>
          <p:cNvSpPr/>
          <p:nvPr/>
        </p:nvSpPr>
        <p:spPr>
          <a:xfrm flipH="1">
            <a:off x="7988198" y="4111523"/>
            <a:ext cx="114300" cy="114300"/>
          </a:xfrm>
          <a:prstGeom prst="line">
            <a:avLst/>
          </a:prstGeom>
          <a:noFill/>
          <a:ln w="19050">
            <a:solidFill>
              <a:srgbClr val="1f1410"/>
            </a:solidFill>
          </a:ln>
        </p:spPr>
      </p:sp>
      <p:sp>
        <p:nvSpPr>
          <p:cNvPr id="293" name="T293"/>
          <p:cNvSpPr txBox="1"/>
          <p:nvPr/>
        </p:nvSpPr>
        <p:spPr>
          <a:xfrm>
            <a:off x="7873900" y="4606825"/>
            <a:ext cx="742652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75">
                <a:solidFill>
                  <a:srgbClr val="1f1410"/>
                </a:solidFill>
                <a:latin typeface="Source Serif 4"/>
                <a:ea typeface="Source Serif 4"/>
              </a:rPr>
              <a:t>Execute</a:t>
            </a:r>
          </a:p>
        </p:txBody>
      </p:sp>
      <p:sp>
        <p:nvSpPr>
          <p:cNvPr id="294" name="T294"/>
          <p:cNvSpPr txBox="1"/>
          <p:nvPr/>
        </p:nvSpPr>
        <p:spPr>
          <a:xfrm>
            <a:off x="8616553" y="4606825"/>
            <a:ext cx="594419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75">
                <a:solidFill>
                  <a:srgbClr val="c1502e"/>
                </a:solidFill>
                <a:latin typeface="Instrument Serif"/>
                <a:ea typeface="Instrument Serif"/>
              </a:rPr>
              <a:t>Off-Heat</a:t>
            </a:r>
          </a:p>
        </p:txBody>
      </p:sp>
      <p:sp>
        <p:nvSpPr>
          <p:cNvPr id="295" name="T295"/>
          <p:cNvSpPr txBox="1"/>
          <p:nvPr/>
        </p:nvSpPr>
        <p:spPr>
          <a:xfrm>
            <a:off x="7873900" y="4990355"/>
            <a:ext cx="3141612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Direct burner heat ruins the emulsion. Combine</a:t>
            </a:r>
          </a:p>
        </p:txBody>
      </p:sp>
      <p:sp>
        <p:nvSpPr>
          <p:cNvPr id="296" name="T296"/>
          <p:cNvSpPr txBox="1"/>
          <p:nvPr/>
        </p:nvSpPr>
        <p:spPr>
          <a:xfrm>
            <a:off x="7873900" y="5214044"/>
            <a:ext cx="3048446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yolk paste and pasta completely off the burner,</a:t>
            </a:r>
          </a:p>
        </p:txBody>
      </p:sp>
      <p:sp>
        <p:nvSpPr>
          <p:cNvPr id="297" name="T297"/>
          <p:cNvSpPr txBox="1"/>
          <p:nvPr/>
        </p:nvSpPr>
        <p:spPr>
          <a:xfrm>
            <a:off x="7873900" y="5437733"/>
            <a:ext cx="1795164" cy="207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87">
                <a:solidFill>
                  <a:srgbClr val="4a3a30"/>
                </a:solidFill>
                <a:latin typeface="Source Serif 4"/>
                <a:ea typeface="Source Serif 4"/>
              </a:rPr>
              <a:t>using residual pan warmth.</a:t>
            </a:r>
          </a:p>
        </p:txBody>
      </p:sp>
      <p:sp>
        <p:nvSpPr>
          <p:cNvPr id="298" name="T298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299" name="T299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9365605" y="538162"/>
            <a:ext cx="86751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PHILOSOPHY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10233124" y="538162"/>
            <a:ext cx="857994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THREE LAWS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304" name="T304"/>
          <p:cNvSpPr txBox="1"/>
          <p:nvPr/>
        </p:nvSpPr>
        <p:spPr>
          <a:xfrm>
            <a:off x="1063525" y="6167437"/>
            <a:ext cx="19157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PHILOSOPHY · THREE LAWS</a:t>
            </a:r>
          </a:p>
        </p:txBody>
      </p:sp>
      <p:sp>
        <p:nvSpPr>
          <p:cNvPr id="305" name="T305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6" name="R306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307" name="R307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308" name="R308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309" name="T309"/>
          <p:cNvSpPr txBox="1"/>
          <p:nvPr/>
        </p:nvSpPr>
        <p:spPr>
          <a:xfrm>
            <a:off x="762000" y="1452562"/>
            <a:ext cx="1724173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PART II · THE PROCESS</a:t>
            </a:r>
          </a:p>
        </p:txBody>
      </p:sp>
      <p:sp>
        <p:nvSpPr>
          <p:cNvPr id="310" name="T310"/>
          <p:cNvSpPr txBox="1"/>
          <p:nvPr/>
        </p:nvSpPr>
        <p:spPr>
          <a:xfrm>
            <a:off x="762000" y="2071687"/>
            <a:ext cx="929282" cy="171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000">
                <a:solidFill>
                  <a:srgbClr val="c1502e"/>
                </a:solidFill>
                <a:latin typeface="Instrument Serif"/>
                <a:ea typeface="Instrument Serif"/>
              </a:rPr>
              <a:t>02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762000" y="3424237"/>
            <a:ext cx="1354633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300">
                <a:solidFill>
                  <a:srgbClr val="1f1410"/>
                </a:solidFill>
                <a:latin typeface="Source Serif 4"/>
                <a:ea typeface="Source Serif 4"/>
              </a:rPr>
              <a:t>The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2116633" y="3405187"/>
            <a:ext cx="2217092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300">
                <a:solidFill>
                  <a:srgbClr val="c1502e"/>
                </a:solidFill>
                <a:latin typeface="Instrument Serif"/>
                <a:ea typeface="Instrument Serif"/>
              </a:rPr>
              <a:t>Cooking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4333726" y="3424237"/>
            <a:ext cx="2495252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300">
                <a:solidFill>
                  <a:srgbClr val="1f1410"/>
                </a:solidFill>
                <a:latin typeface="Source Serif 4"/>
                <a:ea typeface="Source Serif 4"/>
              </a:rPr>
              <a:t>Process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762000" y="4487912"/>
            <a:ext cx="636627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A step-by-step masterclass on execution — transforming five basic elements into a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762000" y="4792265"/>
            <a:ext cx="274647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flawless culinary masterpiece with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3508474" y="4782740"/>
            <a:ext cx="923032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c1502e"/>
                </a:solidFill>
                <a:latin typeface="Instrument Serif"/>
                <a:ea typeface="Instrument Serif"/>
              </a:rPr>
              <a:t>perfect texture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4431506" y="4792265"/>
            <a:ext cx="5164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4a3a30"/>
                </a:solidFill>
                <a:latin typeface="Source Serif 4"/>
                <a:ea typeface="Source Serif 4"/>
              </a:rPr>
              <a:t>.</a:t>
            </a:r>
          </a:p>
        </p:txBody>
      </p:sp>
      <p:sp>
        <p:nvSpPr>
          <p:cNvPr id="318" name="R318"/>
          <p:cNvSpPr/>
          <p:nvPr/>
        </p:nvSpPr>
        <p:spPr>
          <a:xfrm>
            <a:off x="762000" y="553209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</p:spPr>
      </p:sp>
      <p:sp>
        <p:nvSpPr>
          <p:cNvPr id="319" name="T319"/>
          <p:cNvSpPr txBox="1"/>
          <p:nvPr/>
        </p:nvSpPr>
        <p:spPr>
          <a:xfrm>
            <a:off x="971550" y="5522565"/>
            <a:ext cx="937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i.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1198661" y="5532090"/>
            <a:ext cx="557212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RENDER</a:t>
            </a:r>
          </a:p>
        </p:txBody>
      </p:sp>
      <p:sp>
        <p:nvSpPr>
          <p:cNvPr id="321" name="R321"/>
          <p:cNvSpPr/>
          <p:nvPr/>
        </p:nvSpPr>
        <p:spPr>
          <a:xfrm>
            <a:off x="1755874" y="5565427"/>
            <a:ext cx="323850" cy="9525"/>
          </a:xfrm>
          <a:prstGeom prst="rect">
            <a:avLst/>
          </a:prstGeom>
          <a:solidFill>
            <a:srgbClr val="4a3a30">
              <a:alpha val="40000"/>
            </a:srgbClr>
          </a:solidFill>
        </p:spPr>
      </p:sp>
      <p:sp>
        <p:nvSpPr>
          <p:cNvPr id="322" name="R322"/>
          <p:cNvSpPr/>
          <p:nvPr/>
        </p:nvSpPr>
        <p:spPr>
          <a:xfrm>
            <a:off x="2079724" y="553209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</p:spPr>
      </p:sp>
      <p:sp>
        <p:nvSpPr>
          <p:cNvPr id="323" name="T323"/>
          <p:cNvSpPr txBox="1"/>
          <p:nvPr/>
        </p:nvSpPr>
        <p:spPr>
          <a:xfrm>
            <a:off x="2289274" y="5522565"/>
            <a:ext cx="1418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ii.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2564457" y="5532090"/>
            <a:ext cx="330100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BOIL</a:t>
            </a:r>
          </a:p>
        </p:txBody>
      </p:sp>
      <p:sp>
        <p:nvSpPr>
          <p:cNvPr id="325" name="R325"/>
          <p:cNvSpPr/>
          <p:nvPr/>
        </p:nvSpPr>
        <p:spPr>
          <a:xfrm>
            <a:off x="2894558" y="5565427"/>
            <a:ext cx="323850" cy="9525"/>
          </a:xfrm>
          <a:prstGeom prst="rect">
            <a:avLst/>
          </a:prstGeom>
          <a:solidFill>
            <a:srgbClr val="4a3a30">
              <a:alpha val="40000"/>
            </a:srgbClr>
          </a:solidFill>
        </p:spPr>
      </p:sp>
      <p:sp>
        <p:nvSpPr>
          <p:cNvPr id="326" name="R326"/>
          <p:cNvSpPr/>
          <p:nvPr/>
        </p:nvSpPr>
        <p:spPr>
          <a:xfrm>
            <a:off x="3218408" y="553209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</p:spPr>
      </p:sp>
      <p:sp>
        <p:nvSpPr>
          <p:cNvPr id="327" name="T327"/>
          <p:cNvSpPr txBox="1"/>
          <p:nvPr/>
        </p:nvSpPr>
        <p:spPr>
          <a:xfrm>
            <a:off x="3427958" y="5522565"/>
            <a:ext cx="1897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iii.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3751064" y="5532090"/>
            <a:ext cx="471189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WHISK</a:t>
            </a:r>
          </a:p>
        </p:txBody>
      </p:sp>
      <p:sp>
        <p:nvSpPr>
          <p:cNvPr id="329" name="R329"/>
          <p:cNvSpPr/>
          <p:nvPr/>
        </p:nvSpPr>
        <p:spPr>
          <a:xfrm>
            <a:off x="4222253" y="5565427"/>
            <a:ext cx="323850" cy="9525"/>
          </a:xfrm>
          <a:prstGeom prst="rect">
            <a:avLst/>
          </a:prstGeom>
          <a:solidFill>
            <a:srgbClr val="4a3a30">
              <a:alpha val="40000"/>
            </a:srgbClr>
          </a:solidFill>
        </p:spPr>
      </p:sp>
      <p:sp>
        <p:nvSpPr>
          <p:cNvPr id="330" name="R330"/>
          <p:cNvSpPr/>
          <p:nvPr/>
        </p:nvSpPr>
        <p:spPr>
          <a:xfrm>
            <a:off x="4546103" y="553209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</p:spPr>
      </p:sp>
      <p:sp>
        <p:nvSpPr>
          <p:cNvPr id="331" name="T331"/>
          <p:cNvSpPr txBox="1"/>
          <p:nvPr/>
        </p:nvSpPr>
        <p:spPr>
          <a:xfrm>
            <a:off x="4755653" y="5522565"/>
            <a:ext cx="1638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2a1810"/>
                </a:solidFill>
                <a:latin typeface="Source Serif 4"/>
                <a:ea typeface="Source Serif 4"/>
              </a:rPr>
              <a:t>iv.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5052863" y="5532090"/>
            <a:ext cx="71437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EMULSIFY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335" name="T335"/>
          <p:cNvSpPr txBox="1"/>
          <p:nvPr/>
        </p:nvSpPr>
        <p:spPr>
          <a:xfrm>
            <a:off x="9608343" y="538162"/>
            <a:ext cx="701724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PART TWO</a:t>
            </a:r>
          </a:p>
        </p:txBody>
      </p:sp>
      <p:sp>
        <p:nvSpPr>
          <p:cNvPr id="336" name="T336"/>
          <p:cNvSpPr txBox="1"/>
          <p:nvPr/>
        </p:nvSpPr>
        <p:spPr>
          <a:xfrm>
            <a:off x="10310068" y="538162"/>
            <a:ext cx="781050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EXECUTION</a:t>
            </a:r>
          </a:p>
        </p:txBody>
      </p:sp>
      <p:sp>
        <p:nvSpPr>
          <p:cNvPr id="337" name="T337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338" name="T338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339" name="T339"/>
          <p:cNvSpPr txBox="1"/>
          <p:nvPr/>
        </p:nvSpPr>
        <p:spPr>
          <a:xfrm>
            <a:off x="1063525" y="6167437"/>
            <a:ext cx="162445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PART II · THE PROCESS</a:t>
            </a:r>
          </a:p>
        </p:txBody>
      </p:sp>
      <p:sp>
        <p:nvSpPr>
          <p:cNvPr id="340" name="T340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1" name="R341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342" name="R342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343" name="R343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344" name="T344"/>
          <p:cNvSpPr txBox="1"/>
          <p:nvPr/>
        </p:nvSpPr>
        <p:spPr>
          <a:xfrm>
            <a:off x="762000" y="1452562"/>
            <a:ext cx="1824781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FOUNDATION OF FLAVOR</a:t>
            </a:r>
          </a:p>
        </p:txBody>
      </p:sp>
      <p:sp>
        <p:nvSpPr>
          <p:cNvPr id="345" name="T345"/>
          <p:cNvSpPr txBox="1"/>
          <p:nvPr/>
        </p:nvSpPr>
        <p:spPr>
          <a:xfrm>
            <a:off x="762000" y="1776412"/>
            <a:ext cx="1546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400">
                <a:solidFill>
                  <a:srgbClr val="c1502e"/>
                </a:solidFill>
                <a:latin typeface="Instrument Serif"/>
                <a:ea typeface="Instrument Serif"/>
              </a:rPr>
              <a:t>i.</a:t>
            </a:r>
          </a:p>
        </p:txBody>
      </p:sp>
      <p:sp>
        <p:nvSpPr>
          <p:cNvPr id="346" name="T346"/>
          <p:cNvSpPr txBox="1"/>
          <p:nvPr/>
        </p:nvSpPr>
        <p:spPr>
          <a:xfrm>
            <a:off x="1049982" y="1914525"/>
            <a:ext cx="113927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8b5a3c"/>
                </a:solidFill>
                <a:latin typeface="Inter"/>
                <a:ea typeface="Inter"/>
              </a:rPr>
              <a:t>THE FIRST STEP</a:t>
            </a:r>
          </a:p>
        </p:txBody>
      </p:sp>
      <p:sp>
        <p:nvSpPr>
          <p:cNvPr id="347" name="T347"/>
          <p:cNvSpPr txBox="1"/>
          <p:nvPr/>
        </p:nvSpPr>
        <p:spPr>
          <a:xfrm>
            <a:off x="762000" y="2309812"/>
            <a:ext cx="1048791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Slow</a:t>
            </a:r>
          </a:p>
        </p:txBody>
      </p:sp>
      <p:sp>
        <p:nvSpPr>
          <p:cNvPr id="348" name="T348"/>
          <p:cNvSpPr txBox="1"/>
          <p:nvPr/>
        </p:nvSpPr>
        <p:spPr>
          <a:xfrm>
            <a:off x="1810791" y="2300287"/>
            <a:ext cx="1812131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Rendering</a:t>
            </a:r>
          </a:p>
        </p:txBody>
      </p:sp>
      <p:sp>
        <p:nvSpPr>
          <p:cNvPr id="349" name="T349"/>
          <p:cNvSpPr txBox="1"/>
          <p:nvPr/>
        </p:nvSpPr>
        <p:spPr>
          <a:xfrm>
            <a:off x="762000" y="3106638"/>
            <a:ext cx="3104554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Guanciale releases its soul through patience.</a:t>
            </a:r>
          </a:p>
        </p:txBody>
      </p:sp>
      <p:sp>
        <p:nvSpPr>
          <p:cNvPr id="350" name="T350"/>
          <p:cNvSpPr txBox="1"/>
          <p:nvPr/>
        </p:nvSpPr>
        <p:spPr>
          <a:xfrm>
            <a:off x="3866554" y="3106638"/>
            <a:ext cx="953541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Low and slow</a:t>
            </a:r>
          </a:p>
        </p:txBody>
      </p:sp>
      <p:sp>
        <p:nvSpPr>
          <p:cNvPr id="351" name="T351"/>
          <p:cNvSpPr txBox="1"/>
          <p:nvPr/>
        </p:nvSpPr>
        <p:spPr>
          <a:xfrm>
            <a:off x="4820096" y="3106638"/>
            <a:ext cx="74815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is the only</a:t>
            </a:r>
          </a:p>
        </p:txBody>
      </p:sp>
      <p:sp>
        <p:nvSpPr>
          <p:cNvPr id="352" name="T352"/>
          <p:cNvSpPr txBox="1"/>
          <p:nvPr/>
        </p:nvSpPr>
        <p:spPr>
          <a:xfrm>
            <a:off x="762000" y="3357562"/>
            <a:ext cx="1832669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tempo that renders the fat</a:t>
            </a:r>
          </a:p>
        </p:txBody>
      </p:sp>
      <p:sp>
        <p:nvSpPr>
          <p:cNvPr id="353" name="T353"/>
          <p:cNvSpPr txBox="1"/>
          <p:nvPr/>
        </p:nvSpPr>
        <p:spPr>
          <a:xfrm>
            <a:off x="2594669" y="3357562"/>
            <a:ext cx="24913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c1502e"/>
                </a:solidFill>
                <a:latin typeface="Instrument Serif"/>
                <a:ea typeface="Instrument Serif"/>
              </a:rPr>
              <a:t>silky</a:t>
            </a:r>
          </a:p>
        </p:txBody>
      </p:sp>
      <p:sp>
        <p:nvSpPr>
          <p:cNvPr id="354" name="T354"/>
          <p:cNvSpPr txBox="1"/>
          <p:nvPr/>
        </p:nvSpPr>
        <p:spPr>
          <a:xfrm>
            <a:off x="2843807" y="3357562"/>
            <a:ext cx="2206376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while crisping the meat golden.</a:t>
            </a:r>
          </a:p>
        </p:txBody>
      </p:sp>
      <p:sp>
        <p:nvSpPr>
          <p:cNvPr id="355" name="L355"/>
          <p:cNvSpPr/>
          <p:nvPr/>
        </p:nvSpPr>
        <p:spPr>
          <a:xfrm>
            <a:off x="762000" y="3860899"/>
            <a:ext cx="528860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356" name="L356"/>
          <p:cNvSpPr/>
          <p:nvPr/>
        </p:nvSpPr>
        <p:spPr>
          <a:xfrm>
            <a:off x="762000" y="4600872"/>
            <a:ext cx="528860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357" name="T357"/>
          <p:cNvSpPr txBox="1"/>
          <p:nvPr/>
        </p:nvSpPr>
        <p:spPr>
          <a:xfrm>
            <a:off x="762000" y="4060924"/>
            <a:ext cx="8706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i.</a:t>
            </a:r>
          </a:p>
        </p:txBody>
      </p:sp>
      <p:sp>
        <p:nvSpPr>
          <p:cNvPr id="358" name="T358"/>
          <p:cNvSpPr txBox="1"/>
          <p:nvPr/>
        </p:nvSpPr>
        <p:spPr>
          <a:xfrm>
            <a:off x="1123950" y="4060924"/>
            <a:ext cx="867072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1f1410"/>
                </a:solidFill>
                <a:latin typeface="Source Serif 4"/>
                <a:ea typeface="Source Serif 4"/>
              </a:rPr>
              <a:t>Cut chunkily</a:t>
            </a:r>
          </a:p>
        </p:txBody>
      </p:sp>
      <p:sp>
        <p:nvSpPr>
          <p:cNvPr id="359" name="T359"/>
          <p:cNvSpPr txBox="1"/>
          <p:nvPr/>
        </p:nvSpPr>
        <p:spPr>
          <a:xfrm>
            <a:off x="1123950" y="4308574"/>
            <a:ext cx="4758332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Slice guanciale into 1cm thick batons so they stay tender inside when crisp.</a:t>
            </a:r>
          </a:p>
        </p:txBody>
      </p:sp>
      <p:sp>
        <p:nvSpPr>
          <p:cNvPr id="360" name="L360"/>
          <p:cNvSpPr/>
          <p:nvPr/>
        </p:nvSpPr>
        <p:spPr>
          <a:xfrm>
            <a:off x="762000" y="5331321"/>
            <a:ext cx="528860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361" name="T361"/>
          <p:cNvSpPr txBox="1"/>
          <p:nvPr/>
        </p:nvSpPr>
        <p:spPr>
          <a:xfrm>
            <a:off x="762000" y="4791372"/>
            <a:ext cx="13632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ii.</a:t>
            </a:r>
          </a:p>
        </p:txBody>
      </p:sp>
      <p:sp>
        <p:nvSpPr>
          <p:cNvPr id="362" name="T362"/>
          <p:cNvSpPr txBox="1"/>
          <p:nvPr/>
        </p:nvSpPr>
        <p:spPr>
          <a:xfrm>
            <a:off x="1123950" y="4791372"/>
            <a:ext cx="646509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1f1410"/>
                </a:solidFill>
                <a:latin typeface="Source Serif 4"/>
                <a:ea typeface="Source Serif 4"/>
              </a:rPr>
              <a:t>Start cold</a:t>
            </a:r>
          </a:p>
        </p:txBody>
      </p:sp>
      <p:sp>
        <p:nvSpPr>
          <p:cNvPr id="363" name="T363"/>
          <p:cNvSpPr txBox="1"/>
          <p:nvPr/>
        </p:nvSpPr>
        <p:spPr>
          <a:xfrm>
            <a:off x="1123950" y="5039022"/>
            <a:ext cx="4542532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Place pork into a cold pan with no extra oil; let the fat render out slowly.</a:t>
            </a:r>
          </a:p>
        </p:txBody>
      </p:sp>
      <p:sp>
        <p:nvSpPr>
          <p:cNvPr id="364" name="L364"/>
          <p:cNvSpPr/>
          <p:nvPr/>
        </p:nvSpPr>
        <p:spPr>
          <a:xfrm>
            <a:off x="762000" y="6061769"/>
            <a:ext cx="528860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365" name="T365"/>
          <p:cNvSpPr txBox="1"/>
          <p:nvPr/>
        </p:nvSpPr>
        <p:spPr>
          <a:xfrm>
            <a:off x="762000" y="5521821"/>
            <a:ext cx="18573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iii.</a:t>
            </a:r>
          </a:p>
        </p:txBody>
      </p:sp>
      <p:sp>
        <p:nvSpPr>
          <p:cNvPr id="366" name="T366"/>
          <p:cNvSpPr txBox="1"/>
          <p:nvPr/>
        </p:nvSpPr>
        <p:spPr>
          <a:xfrm>
            <a:off x="1123950" y="5521821"/>
            <a:ext cx="716458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1f1410"/>
                </a:solidFill>
                <a:latin typeface="Source Serif 4"/>
                <a:ea typeface="Source Serif 4"/>
              </a:rPr>
              <a:t>Slow sauté</a:t>
            </a:r>
          </a:p>
        </p:txBody>
      </p:sp>
      <p:sp>
        <p:nvSpPr>
          <p:cNvPr id="367" name="T367"/>
          <p:cNvSpPr txBox="1"/>
          <p:nvPr/>
        </p:nvSpPr>
        <p:spPr>
          <a:xfrm>
            <a:off x="1123950" y="5769471"/>
            <a:ext cx="396046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Cook on low-medium for 8–10 minutes until golden and crispy.</a:t>
            </a:r>
          </a:p>
        </p:txBody>
      </p:sp>
      <p:sp>
        <p:nvSpPr>
          <p:cNvPr id="368" name="L368"/>
          <p:cNvSpPr/>
          <p:nvPr/>
        </p:nvSpPr>
        <p:spPr>
          <a:xfrm>
            <a:off x="762000" y="6792217"/>
            <a:ext cx="5288607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369" name="T369"/>
          <p:cNvSpPr txBox="1"/>
          <p:nvPr/>
        </p:nvSpPr>
        <p:spPr>
          <a:xfrm>
            <a:off x="762000" y="6252269"/>
            <a:ext cx="15760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iv.</a:t>
            </a:r>
          </a:p>
        </p:txBody>
      </p:sp>
      <p:sp>
        <p:nvSpPr>
          <p:cNvPr id="370" name="T370"/>
          <p:cNvSpPr txBox="1"/>
          <p:nvPr/>
        </p:nvSpPr>
        <p:spPr>
          <a:xfrm>
            <a:off x="1123950" y="6252269"/>
            <a:ext cx="90383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1f1410"/>
                </a:solidFill>
                <a:latin typeface="Source Serif 4"/>
                <a:ea typeface="Source Serif 4"/>
              </a:rPr>
              <a:t>Retain the fat</a:t>
            </a:r>
          </a:p>
        </p:txBody>
      </p:sp>
      <p:sp>
        <p:nvSpPr>
          <p:cNvPr id="371" name="T371"/>
          <p:cNvSpPr txBox="1"/>
          <p:nvPr/>
        </p:nvSpPr>
        <p:spPr>
          <a:xfrm>
            <a:off x="1123950" y="6499919"/>
            <a:ext cx="423118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Remove the meat, but leave the rendered liquid fat base in the pan.</a:t>
            </a:r>
          </a:p>
        </p:txBody>
      </p:sp>
      <p:sp>
        <p:nvSpPr>
          <p:cNvPr id="372" name="R372"/>
          <p:cNvSpPr/>
          <p:nvPr/>
        </p:nvSpPr>
        <p:spPr>
          <a:xfrm>
            <a:off x="6622107" y="2348358"/>
            <a:ext cx="4191000" cy="3619500"/>
          </a:xfrm>
          <a:prstGeom prst="roundRect">
            <a:avLst>
              <a:gd name="adj" fmla="val 526"/>
            </a:avLst>
          </a:prstGeom>
          <a:gradFill>
            <a:gsLst>
              <a:gs pos="0">
                <a:srgbClr val="2a1810"/>
              </a:gs>
              <a:gs pos="50000">
                <a:srgbClr val="4a3020"/>
              </a:gs>
              <a:gs pos="100000">
                <a:srgbClr val="2a1810"/>
              </a:gs>
            </a:gsLst>
            <a:lin ang="2700000" scaled="0"/>
          </a:gradFill>
        </p:spPr>
      </p:sp>
      <p:sp>
        <p:nvSpPr>
          <p:cNvPr id="373" name="R373"/>
          <p:cNvSpPr/>
          <p:nvPr/>
        </p:nvSpPr>
        <p:spPr>
          <a:xfrm>
            <a:off x="7464018" y="3784899"/>
            <a:ext cx="2507177" cy="746419"/>
          </a:xfrm>
          <a:prstGeom prst="roundRect">
            <a:avLst>
              <a:gd name="adj" fmla="val 7656"/>
            </a:avLst>
          </a:prstGeom>
          <a:gradFill>
            <a:gsLst>
              <a:gs pos="0">
                <a:srgbClr val="c45a3a"/>
              </a:gs>
              <a:gs pos="33333">
                <a:srgbClr val="e08560"/>
              </a:gs>
              <a:gs pos="66666">
                <a:srgbClr val="c45a3a"/>
              </a:gs>
              <a:gs pos="100000">
                <a:srgbClr val="8b3a1f"/>
              </a:gs>
            </a:gsLst>
            <a:lin ang="0" scaled="0"/>
          </a:gradFill>
        </p:spPr>
      </p:sp>
      <p:sp>
        <p:nvSpPr>
          <p:cNvPr id="374" name="R374"/>
          <p:cNvSpPr/>
          <p:nvPr/>
        </p:nvSpPr>
        <p:spPr>
          <a:xfrm>
            <a:off x="7561716" y="3935863"/>
            <a:ext cx="2311780" cy="528311"/>
          </a:xfrm>
          <a:prstGeom prst="roundRect">
            <a:avLst>
              <a:gd name="adj" fmla="val 10817"/>
            </a:avLst>
          </a:prstGeom>
          <a:gradFill>
            <a:gsLst>
              <a:gs pos="0">
                <a:srgbClr val="8b3a1f"/>
              </a:gs>
              <a:gs pos="50000">
                <a:srgbClr val="c45a3a"/>
              </a:gs>
              <a:gs pos="100000">
                <a:srgbClr val="6b2a14"/>
              </a:gs>
            </a:gsLst>
            <a:lin ang="0" scaled="0"/>
          </a:gradFill>
        </p:spPr>
      </p:sp>
      <p:sp>
        <p:nvSpPr>
          <p:cNvPr id="375" name="R375"/>
          <p:cNvSpPr/>
          <p:nvPr/>
        </p:nvSpPr>
        <p:spPr>
          <a:xfrm>
            <a:off x="7349923" y="4064632"/>
            <a:ext cx="2735367" cy="484132"/>
          </a:xfrm>
          <a:prstGeom prst="roundRect">
            <a:avLst>
              <a:gd name="adj" fmla="val 11804"/>
            </a:avLst>
          </a:prstGeom>
          <a:gradFill>
            <a:gsLst>
              <a:gs pos="0">
                <a:srgbClr val="c45a3a"/>
              </a:gs>
              <a:gs pos="33333">
                <a:srgbClr val="d97455"/>
              </a:gs>
              <a:gs pos="66666">
                <a:srgbClr val="a84a2a"/>
              </a:gs>
              <a:gs pos="100000">
                <a:srgbClr val="8b3a1f"/>
              </a:gs>
            </a:gsLst>
            <a:lin ang="0" scaled="0"/>
          </a:gradFill>
        </p:spPr>
      </p:sp>
      <p:sp>
        <p:nvSpPr>
          <p:cNvPr id="376" name="T376"/>
          <p:cNvSpPr txBox="1"/>
          <p:nvPr/>
        </p:nvSpPr>
        <p:spPr>
          <a:xfrm>
            <a:off x="7145684" y="5677346"/>
            <a:ext cx="314384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f3ebde">
                    <a:alpha val="70000"/>
                  </a:srgbClr>
                </a:solidFill>
                <a:latin typeface="Inter"/>
                <a:ea typeface="Inter"/>
              </a:rPr>
              <a:t>— GUANCIALE RENDERING IN CAST IRON —</a:t>
            </a:r>
          </a:p>
        </p:txBody>
      </p:sp>
      <p:sp>
        <p:nvSpPr>
          <p:cNvPr id="377" name="T377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378" name="T378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379" name="T379"/>
          <p:cNvSpPr txBox="1"/>
          <p:nvPr/>
        </p:nvSpPr>
        <p:spPr>
          <a:xfrm>
            <a:off x="9877573" y="538162"/>
            <a:ext cx="439787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STEP I</a:t>
            </a:r>
          </a:p>
        </p:txBody>
      </p:sp>
      <p:sp>
        <p:nvSpPr>
          <p:cNvPr id="380" name="T380"/>
          <p:cNvSpPr txBox="1"/>
          <p:nvPr/>
        </p:nvSpPr>
        <p:spPr>
          <a:xfrm>
            <a:off x="10317360" y="538162"/>
            <a:ext cx="773757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RENDERING</a:t>
            </a:r>
          </a:p>
        </p:txBody>
      </p:sp>
      <p:sp>
        <p:nvSpPr>
          <p:cNvPr id="381" name="T381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382" name="T382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383" name="T383"/>
          <p:cNvSpPr txBox="1"/>
          <p:nvPr/>
        </p:nvSpPr>
        <p:spPr>
          <a:xfrm>
            <a:off x="1063525" y="6167437"/>
            <a:ext cx="140121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STEP I · RENDERING</a:t>
            </a:r>
          </a:p>
        </p:txBody>
      </p:sp>
      <p:sp>
        <p:nvSpPr>
          <p:cNvPr id="384" name="T384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5" name="R385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386" name="R386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387" name="R387"/>
          <p:cNvSpPr/>
          <p:nvPr/>
        </p:nvSpPr>
        <p:spPr>
          <a:xfrm>
            <a:off x="1936700" y="2194024"/>
            <a:ext cx="3619500" cy="4572000"/>
          </a:xfrm>
          <a:prstGeom prst="roundRect">
            <a:avLst>
              <a:gd name="adj" fmla="val 526"/>
            </a:avLst>
          </a:prstGeom>
          <a:gradFill>
            <a:gsLst>
              <a:gs pos="0">
                <a:srgbClr val="1a1410"/>
              </a:gs>
              <a:gs pos="50000">
                <a:srgbClr val="2a1810"/>
              </a:gs>
              <a:gs pos="100000">
                <a:srgbClr val="0f0a05"/>
              </a:gs>
            </a:gsLst>
            <a:lin ang="0" scaled="0"/>
          </a:gradFill>
        </p:spPr>
      </p:sp>
      <p:sp>
        <p:nvSpPr>
          <p:cNvPr id="388" name="R388"/>
          <p:cNvSpPr/>
          <p:nvPr/>
        </p:nvSpPr>
        <p:spPr>
          <a:xfrm>
            <a:off x="3492797" y="3577405"/>
            <a:ext cx="507306" cy="3214936"/>
          </a:xfrm>
          <a:prstGeom prst="roundRect">
            <a:avLst>
              <a:gd name="adj" fmla="val 5632"/>
            </a:avLst>
          </a:prstGeom>
          <a:gradFill>
            <a:gsLst>
              <a:gs pos="0">
                <a:srgbClr val="f0c050"/>
              </a:gs>
              <a:gs pos="100000">
                <a:srgbClr val="d49a30"/>
              </a:gs>
            </a:gsLst>
            <a:lin ang="0" scaled="0"/>
          </a:gradFill>
        </p:spPr>
      </p:sp>
      <p:sp>
        <p:nvSpPr>
          <p:cNvPr id="389" name="R389"/>
          <p:cNvSpPr/>
          <p:nvPr/>
        </p:nvSpPr>
        <p:spPr>
          <a:xfrm>
            <a:off x="3490987" y="3571483"/>
            <a:ext cx="365967" cy="3036280"/>
          </a:xfrm>
          <a:prstGeom prst="roundRect">
            <a:avLst>
              <a:gd name="adj" fmla="val 7808"/>
            </a:avLst>
          </a:prstGeom>
          <a:gradFill>
            <a:gsLst>
              <a:gs pos="0">
                <a:srgbClr val="e0a830"/>
              </a:gs>
              <a:gs pos="100000">
                <a:srgbClr val="b8881a"/>
              </a:gs>
            </a:gsLst>
            <a:lin ang="0" scaled="0"/>
          </a:gradFill>
        </p:spPr>
      </p:sp>
      <p:sp>
        <p:nvSpPr>
          <p:cNvPr id="390" name="R390"/>
          <p:cNvSpPr/>
          <p:nvPr/>
        </p:nvSpPr>
        <p:spPr>
          <a:xfrm>
            <a:off x="3421391" y="3606911"/>
            <a:ext cx="794778" cy="2774924"/>
          </a:xfrm>
          <a:prstGeom prst="roundRect">
            <a:avLst>
              <a:gd name="adj" fmla="val 3595"/>
            </a:avLst>
          </a:prstGeom>
          <a:gradFill>
            <a:gsLst>
              <a:gs pos="0">
                <a:srgbClr val="f0c050"/>
              </a:gs>
              <a:gs pos="100000">
                <a:srgbClr val="d49a30"/>
              </a:gs>
            </a:gsLst>
            <a:lin ang="0" scaled="0"/>
          </a:gradFill>
        </p:spPr>
      </p:sp>
      <p:sp>
        <p:nvSpPr>
          <p:cNvPr id="391" name="R391"/>
          <p:cNvSpPr/>
          <p:nvPr/>
        </p:nvSpPr>
        <p:spPr>
          <a:xfrm>
            <a:off x="3271392" y="3592935"/>
            <a:ext cx="660495" cy="2898127"/>
          </a:xfrm>
          <a:prstGeom prst="roundRect">
            <a:avLst>
              <a:gd name="adj" fmla="val 4326"/>
            </a:avLst>
          </a:prstGeom>
          <a:gradFill>
            <a:gsLst>
              <a:gs pos="0">
                <a:srgbClr val="e8b838"/>
              </a:gs>
              <a:gs pos="100000">
                <a:srgbClr val="c89220"/>
              </a:gs>
            </a:gsLst>
            <a:lin ang="0" scaled="0"/>
          </a:gradFill>
        </p:spPr>
      </p:sp>
      <p:sp>
        <p:nvSpPr>
          <p:cNvPr id="392" name="R392"/>
          <p:cNvSpPr/>
          <p:nvPr/>
        </p:nvSpPr>
        <p:spPr>
          <a:xfrm>
            <a:off x="3757725" y="3567791"/>
            <a:ext cx="266770" cy="3138915"/>
          </a:xfrm>
          <a:prstGeom prst="roundRect">
            <a:avLst>
              <a:gd name="adj" fmla="val 10711"/>
            </a:avLst>
          </a:prstGeom>
          <a:gradFill>
            <a:gsLst>
              <a:gs pos="0">
                <a:srgbClr val="f0c050"/>
              </a:gs>
              <a:gs pos="100000">
                <a:srgbClr val="d49a30"/>
              </a:gs>
            </a:gsLst>
            <a:lin ang="0" scaled="0"/>
          </a:gradFill>
        </p:spPr>
      </p:sp>
      <p:sp>
        <p:nvSpPr>
          <p:cNvPr id="393" name="T393"/>
          <p:cNvSpPr txBox="1"/>
          <p:nvPr/>
        </p:nvSpPr>
        <p:spPr>
          <a:xfrm>
            <a:off x="2480964" y="6475511"/>
            <a:ext cx="2530822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f3ebde">
                    <a:alpha val="70000"/>
                  </a:srgbClr>
                </a:solidFill>
                <a:latin typeface="Inter"/>
                <a:ea typeface="Inter"/>
              </a:rPr>
              <a:t>— SPAGHETTI IN SALTED WATER —</a:t>
            </a:r>
          </a:p>
        </p:txBody>
      </p:sp>
      <p:sp>
        <p:nvSpPr>
          <p:cNvPr id="394" name="R394"/>
          <p:cNvSpPr/>
          <p:nvPr/>
        </p:nvSpPr>
        <p:spPr>
          <a:xfrm>
            <a:off x="63182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395" name="T395"/>
          <p:cNvSpPr txBox="1"/>
          <p:nvPr/>
        </p:nvSpPr>
        <p:spPr>
          <a:xfrm>
            <a:off x="6318200" y="1452562"/>
            <a:ext cx="2145208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STARCH IS YOUR STABILIZER</a:t>
            </a:r>
          </a:p>
        </p:txBody>
      </p:sp>
      <p:sp>
        <p:nvSpPr>
          <p:cNvPr id="396" name="T396"/>
          <p:cNvSpPr txBox="1"/>
          <p:nvPr/>
        </p:nvSpPr>
        <p:spPr>
          <a:xfrm>
            <a:off x="6318200" y="1776412"/>
            <a:ext cx="24244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400">
                <a:solidFill>
                  <a:srgbClr val="c1502e"/>
                </a:solidFill>
                <a:latin typeface="Instrument Serif"/>
                <a:ea typeface="Instrument Serif"/>
              </a:rPr>
              <a:t>ii.</a:t>
            </a:r>
          </a:p>
        </p:txBody>
      </p:sp>
      <p:sp>
        <p:nvSpPr>
          <p:cNvPr id="397" name="T397"/>
          <p:cNvSpPr txBox="1"/>
          <p:nvPr/>
        </p:nvSpPr>
        <p:spPr>
          <a:xfrm>
            <a:off x="6693991" y="1914525"/>
            <a:ext cx="1306413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8b5a3c"/>
                </a:solidFill>
                <a:latin typeface="Inter"/>
                <a:ea typeface="Inter"/>
              </a:rPr>
              <a:t>THE SECOND STEP</a:t>
            </a:r>
          </a:p>
        </p:txBody>
      </p:sp>
      <p:sp>
        <p:nvSpPr>
          <p:cNvPr id="398" name="T398"/>
          <p:cNvSpPr txBox="1"/>
          <p:nvPr/>
        </p:nvSpPr>
        <p:spPr>
          <a:xfrm>
            <a:off x="6318200" y="2309812"/>
            <a:ext cx="1538882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Boiling</a:t>
            </a:r>
          </a:p>
        </p:txBody>
      </p:sp>
      <p:sp>
        <p:nvSpPr>
          <p:cNvPr id="399" name="T399"/>
          <p:cNvSpPr txBox="1"/>
          <p:nvPr/>
        </p:nvSpPr>
        <p:spPr>
          <a:xfrm>
            <a:off x="7857083" y="2300287"/>
            <a:ext cx="947439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Pasta</a:t>
            </a:r>
          </a:p>
        </p:txBody>
      </p:sp>
      <p:sp>
        <p:nvSpPr>
          <p:cNvPr id="400" name="T400"/>
          <p:cNvSpPr txBox="1"/>
          <p:nvPr/>
        </p:nvSpPr>
        <p:spPr>
          <a:xfrm>
            <a:off x="6318200" y="3106638"/>
            <a:ext cx="1039117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Molto al dente.</a:t>
            </a:r>
          </a:p>
        </p:txBody>
      </p:sp>
      <p:sp>
        <p:nvSpPr>
          <p:cNvPr id="401" name="T401"/>
          <p:cNvSpPr txBox="1"/>
          <p:nvPr/>
        </p:nvSpPr>
        <p:spPr>
          <a:xfrm>
            <a:off x="7357318" y="3106638"/>
            <a:ext cx="3879949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Boil the spaghetti or rigatoni in heavily salted water — it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6318200" y="3357562"/>
            <a:ext cx="1681757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should taste like the sea.</a:t>
            </a:r>
          </a:p>
        </p:txBody>
      </p:sp>
      <p:sp>
        <p:nvSpPr>
          <p:cNvPr id="403" name="T403"/>
          <p:cNvSpPr txBox="1"/>
          <p:nvPr/>
        </p:nvSpPr>
        <p:spPr>
          <a:xfrm>
            <a:off x="6318200" y="3741836"/>
            <a:ext cx="1740693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Starch concentration tip.</a:t>
            </a:r>
          </a:p>
        </p:txBody>
      </p:sp>
      <p:sp>
        <p:nvSpPr>
          <p:cNvPr id="404" name="T404"/>
          <p:cNvSpPr txBox="1"/>
          <p:nvPr/>
        </p:nvSpPr>
        <p:spPr>
          <a:xfrm>
            <a:off x="8058894" y="3741836"/>
            <a:ext cx="2760910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Use slightly less water than the package</a:t>
            </a:r>
          </a:p>
        </p:txBody>
      </p:sp>
      <p:sp>
        <p:nvSpPr>
          <p:cNvPr id="405" name="T405"/>
          <p:cNvSpPr txBox="1"/>
          <p:nvPr/>
        </p:nvSpPr>
        <p:spPr>
          <a:xfrm>
            <a:off x="6318200" y="3992760"/>
            <a:ext cx="471442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suggests to concentrate the starches in the pot. Cloudy pasta water is</a:t>
            </a:r>
          </a:p>
        </p:txBody>
      </p:sp>
      <p:sp>
        <p:nvSpPr>
          <p:cNvPr id="406" name="T406"/>
          <p:cNvSpPr txBox="1"/>
          <p:nvPr/>
        </p:nvSpPr>
        <p:spPr>
          <a:xfrm>
            <a:off x="6318200" y="4243685"/>
            <a:ext cx="352276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c1502e"/>
                </a:solidFill>
                <a:latin typeface="Instrument Serif"/>
                <a:ea typeface="Instrument Serif"/>
              </a:rPr>
              <a:t>golden</a:t>
            </a:r>
          </a:p>
        </p:txBody>
      </p:sp>
      <p:sp>
        <p:nvSpPr>
          <p:cNvPr id="407" name="T407"/>
          <p:cNvSpPr txBox="1"/>
          <p:nvPr/>
        </p:nvSpPr>
        <p:spPr>
          <a:xfrm>
            <a:off x="6670476" y="4243685"/>
            <a:ext cx="971847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, not wasteful.</a:t>
            </a:r>
          </a:p>
        </p:txBody>
      </p:sp>
      <p:sp>
        <p:nvSpPr>
          <p:cNvPr id="408" name="T408"/>
          <p:cNvSpPr txBox="1"/>
          <p:nvPr/>
        </p:nvSpPr>
        <p:spPr>
          <a:xfrm>
            <a:off x="6318200" y="4627959"/>
            <a:ext cx="141118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Under-cook slightly.</a:t>
            </a:r>
          </a:p>
        </p:txBody>
      </p:sp>
      <p:sp>
        <p:nvSpPr>
          <p:cNvPr id="409" name="T409"/>
          <p:cNvSpPr txBox="1"/>
          <p:nvPr/>
        </p:nvSpPr>
        <p:spPr>
          <a:xfrm>
            <a:off x="7729388" y="4627959"/>
            <a:ext cx="1266080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Pull the pasta out</a:t>
            </a:r>
          </a:p>
        </p:txBody>
      </p:sp>
      <p:sp>
        <p:nvSpPr>
          <p:cNvPr id="410" name="T410"/>
          <p:cNvSpPr txBox="1"/>
          <p:nvPr/>
        </p:nvSpPr>
        <p:spPr>
          <a:xfrm>
            <a:off x="8995469" y="4627959"/>
            <a:ext cx="524470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c1502e"/>
                </a:solidFill>
                <a:latin typeface="Instrument Serif"/>
                <a:ea typeface="Instrument Serif"/>
              </a:rPr>
              <a:t>2 minutes</a:t>
            </a:r>
          </a:p>
        </p:txBody>
      </p:sp>
      <p:sp>
        <p:nvSpPr>
          <p:cNvPr id="411" name="T411"/>
          <p:cNvSpPr txBox="1"/>
          <p:nvPr/>
        </p:nvSpPr>
        <p:spPr>
          <a:xfrm>
            <a:off x="9519939" y="4627959"/>
            <a:ext cx="181123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before package directions</a:t>
            </a:r>
          </a:p>
        </p:txBody>
      </p:sp>
      <p:sp>
        <p:nvSpPr>
          <p:cNvPr id="412" name="T412"/>
          <p:cNvSpPr txBox="1"/>
          <p:nvPr/>
        </p:nvSpPr>
        <p:spPr>
          <a:xfrm>
            <a:off x="6318200" y="4878883"/>
            <a:ext cx="2497931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so it can finish in the rendering pan.</a:t>
            </a:r>
          </a:p>
        </p:txBody>
      </p:sp>
      <p:sp>
        <p:nvSpPr>
          <p:cNvPr id="413" name="L413"/>
          <p:cNvSpPr/>
          <p:nvPr/>
        </p:nvSpPr>
        <p:spPr>
          <a:xfrm>
            <a:off x="6318200" y="5420320"/>
            <a:ext cx="2441525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414" name="T414"/>
          <p:cNvSpPr txBox="1"/>
          <p:nvPr/>
        </p:nvSpPr>
        <p:spPr>
          <a:xfrm>
            <a:off x="6318200" y="5658445"/>
            <a:ext cx="734169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850">
                <a:solidFill>
                  <a:srgbClr val="c1502e"/>
                </a:solidFill>
                <a:latin typeface="Instrument Serif"/>
                <a:ea typeface="Instrument Serif"/>
              </a:rPr>
              <a:t>2 min</a:t>
            </a:r>
          </a:p>
        </p:txBody>
      </p:sp>
      <p:sp>
        <p:nvSpPr>
          <p:cNvPr id="415" name="T415"/>
          <p:cNvSpPr txBox="1"/>
          <p:nvPr/>
        </p:nvSpPr>
        <p:spPr>
          <a:xfrm>
            <a:off x="6318200" y="6039445"/>
            <a:ext cx="86856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8b5a3c"/>
                </a:solidFill>
                <a:latin typeface="Inter"/>
                <a:ea typeface="Inter"/>
              </a:rPr>
              <a:t>UNDER-COOK</a:t>
            </a:r>
          </a:p>
        </p:txBody>
      </p:sp>
      <p:sp>
        <p:nvSpPr>
          <p:cNvPr id="416" name="T416"/>
          <p:cNvSpPr txBox="1"/>
          <p:nvPr/>
        </p:nvSpPr>
        <p:spPr>
          <a:xfrm>
            <a:off x="6318200" y="6258520"/>
            <a:ext cx="195961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4a3a30"/>
                </a:solidFill>
                <a:latin typeface="Source Serif 4"/>
                <a:ea typeface="Source Serif 4"/>
              </a:rPr>
              <a:t>Pasta finishes in the pan with the</a:t>
            </a:r>
          </a:p>
        </p:txBody>
      </p:sp>
      <p:sp>
        <p:nvSpPr>
          <p:cNvPr id="417" name="T417"/>
          <p:cNvSpPr txBox="1"/>
          <p:nvPr/>
        </p:nvSpPr>
        <p:spPr>
          <a:xfrm>
            <a:off x="6318200" y="6450359"/>
            <a:ext cx="137799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4a3a30"/>
                </a:solidFill>
                <a:latin typeface="Source Serif 4"/>
                <a:ea typeface="Source Serif 4"/>
              </a:rPr>
              <a:t>rendered guanciale fat.</a:t>
            </a:r>
          </a:p>
        </p:txBody>
      </p:sp>
      <p:sp>
        <p:nvSpPr>
          <p:cNvPr id="418" name="L418"/>
          <p:cNvSpPr/>
          <p:nvPr/>
        </p:nvSpPr>
        <p:spPr>
          <a:xfrm>
            <a:off x="8988325" y="5420320"/>
            <a:ext cx="2441674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419" name="T419"/>
          <p:cNvSpPr txBox="1"/>
          <p:nvPr/>
        </p:nvSpPr>
        <p:spPr>
          <a:xfrm>
            <a:off x="8988325" y="5658445"/>
            <a:ext cx="520898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850">
                <a:solidFill>
                  <a:srgbClr val="c1502e"/>
                </a:solidFill>
                <a:latin typeface="Instrument Serif"/>
                <a:ea typeface="Instrument Serif"/>
              </a:rPr>
              <a:t>1.0%</a:t>
            </a:r>
          </a:p>
        </p:txBody>
      </p:sp>
      <p:sp>
        <p:nvSpPr>
          <p:cNvPr id="420" name="T420"/>
          <p:cNvSpPr txBox="1"/>
          <p:nvPr/>
        </p:nvSpPr>
        <p:spPr>
          <a:xfrm>
            <a:off x="8988325" y="6039445"/>
            <a:ext cx="109314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8b5a3c"/>
                </a:solidFill>
                <a:latin typeface="Inter"/>
                <a:ea typeface="Inter"/>
              </a:rPr>
              <a:t>WATER SALINITY</a:t>
            </a:r>
          </a:p>
        </p:txBody>
      </p:sp>
      <p:sp>
        <p:nvSpPr>
          <p:cNvPr id="421" name="T421"/>
          <p:cNvSpPr txBox="1"/>
          <p:nvPr/>
        </p:nvSpPr>
        <p:spPr>
          <a:xfrm>
            <a:off x="8988325" y="6258520"/>
            <a:ext cx="2328713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4a3a30"/>
                </a:solidFill>
                <a:latin typeface="Source Serif 4"/>
                <a:ea typeface="Source Serif 4"/>
              </a:rPr>
              <a:t>Heavily salted — the only seasoning the</a:t>
            </a:r>
          </a:p>
        </p:txBody>
      </p:sp>
      <p:sp>
        <p:nvSpPr>
          <p:cNvPr id="422" name="T422"/>
          <p:cNvSpPr txBox="1"/>
          <p:nvPr/>
        </p:nvSpPr>
        <p:spPr>
          <a:xfrm>
            <a:off x="8988325" y="6450359"/>
            <a:ext cx="820787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4a3a30"/>
                </a:solidFill>
                <a:latin typeface="Source Serif 4"/>
                <a:ea typeface="Source Serif 4"/>
              </a:rPr>
              <a:t>pasta will get.</a:t>
            </a:r>
          </a:p>
        </p:txBody>
      </p:sp>
      <p:sp>
        <p:nvSpPr>
          <p:cNvPr id="423" name="T423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424" name="T424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425" name="T425"/>
          <p:cNvSpPr txBox="1"/>
          <p:nvPr/>
        </p:nvSpPr>
        <p:spPr>
          <a:xfrm>
            <a:off x="10044112" y="538162"/>
            <a:ext cx="48904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STEP II</a:t>
            </a:r>
          </a:p>
        </p:txBody>
      </p:sp>
      <p:sp>
        <p:nvSpPr>
          <p:cNvPr id="426" name="T426"/>
          <p:cNvSpPr txBox="1"/>
          <p:nvPr/>
        </p:nvSpPr>
        <p:spPr>
          <a:xfrm>
            <a:off x="10533161" y="538162"/>
            <a:ext cx="557956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BOILING</a:t>
            </a:r>
          </a:p>
        </p:txBody>
      </p:sp>
      <p:sp>
        <p:nvSpPr>
          <p:cNvPr id="427" name="T427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428" name="T428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429" name="T429"/>
          <p:cNvSpPr txBox="1"/>
          <p:nvPr/>
        </p:nvSpPr>
        <p:spPr>
          <a:xfrm>
            <a:off x="1063525" y="6167437"/>
            <a:ext cx="123676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STEP II · BOILING</a:t>
            </a:r>
          </a:p>
        </p:txBody>
      </p:sp>
      <p:sp>
        <p:nvSpPr>
          <p:cNvPr id="430" name="T430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1" name="R431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432" name="R432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433" name="R433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434" name="T434"/>
          <p:cNvSpPr txBox="1"/>
          <p:nvPr/>
        </p:nvSpPr>
        <p:spPr>
          <a:xfrm>
            <a:off x="762000" y="1452562"/>
            <a:ext cx="1538287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THE EMULSION BASE</a:t>
            </a:r>
          </a:p>
        </p:txBody>
      </p:sp>
      <p:sp>
        <p:nvSpPr>
          <p:cNvPr id="435" name="T435"/>
          <p:cNvSpPr txBox="1"/>
          <p:nvPr/>
        </p:nvSpPr>
        <p:spPr>
          <a:xfrm>
            <a:off x="762000" y="1776412"/>
            <a:ext cx="3301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400">
                <a:solidFill>
                  <a:srgbClr val="c1502e"/>
                </a:solidFill>
                <a:latin typeface="Instrument Serif"/>
                <a:ea typeface="Instrument Serif"/>
              </a:rPr>
              <a:t>iii.</a:t>
            </a:r>
          </a:p>
        </p:txBody>
      </p:sp>
      <p:sp>
        <p:nvSpPr>
          <p:cNvPr id="436" name="T436"/>
          <p:cNvSpPr txBox="1"/>
          <p:nvPr/>
        </p:nvSpPr>
        <p:spPr>
          <a:xfrm>
            <a:off x="1225450" y="1914525"/>
            <a:ext cx="1162942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8b5a3c"/>
                </a:solidFill>
                <a:latin typeface="Inter"/>
                <a:ea typeface="Inter"/>
              </a:rPr>
              <a:t>THE THIRD STEP</a:t>
            </a:r>
          </a:p>
        </p:txBody>
      </p:sp>
      <p:sp>
        <p:nvSpPr>
          <p:cNvPr id="437" name="T437"/>
          <p:cNvSpPr txBox="1"/>
          <p:nvPr/>
        </p:nvSpPr>
        <p:spPr>
          <a:xfrm>
            <a:off x="762000" y="2309812"/>
            <a:ext cx="2045344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Whisking</a:t>
            </a:r>
          </a:p>
        </p:txBody>
      </p:sp>
      <p:sp>
        <p:nvSpPr>
          <p:cNvPr id="438" name="T438"/>
          <p:cNvSpPr txBox="1"/>
          <p:nvPr/>
        </p:nvSpPr>
        <p:spPr>
          <a:xfrm>
            <a:off x="2807344" y="2300287"/>
            <a:ext cx="1331714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Pastella</a:t>
            </a:r>
          </a:p>
        </p:txBody>
      </p:sp>
      <p:sp>
        <p:nvSpPr>
          <p:cNvPr id="439" name="T439"/>
          <p:cNvSpPr txBox="1"/>
          <p:nvPr/>
        </p:nvSpPr>
        <p:spPr>
          <a:xfrm>
            <a:off x="762000" y="3106638"/>
            <a:ext cx="145434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The paste technique.</a:t>
            </a:r>
          </a:p>
        </p:txBody>
      </p:sp>
      <p:sp>
        <p:nvSpPr>
          <p:cNvPr id="440" name="T440"/>
          <p:cNvSpPr txBox="1"/>
          <p:nvPr/>
        </p:nvSpPr>
        <p:spPr>
          <a:xfrm>
            <a:off x="2216348" y="3106638"/>
            <a:ext cx="3477517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Finely grate Pecorino Romano using a microplane</a:t>
            </a:r>
          </a:p>
        </p:txBody>
      </p:sp>
      <p:sp>
        <p:nvSpPr>
          <p:cNvPr id="441" name="T441"/>
          <p:cNvSpPr txBox="1"/>
          <p:nvPr/>
        </p:nvSpPr>
        <p:spPr>
          <a:xfrm>
            <a:off x="762000" y="3357562"/>
            <a:ext cx="1383059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so it melts instantly</a:t>
            </a:r>
          </a:p>
        </p:txBody>
      </p:sp>
      <p:sp>
        <p:nvSpPr>
          <p:cNvPr id="442" name="T442"/>
          <p:cNvSpPr txBox="1"/>
          <p:nvPr/>
        </p:nvSpPr>
        <p:spPr>
          <a:xfrm>
            <a:off x="2145059" y="3357562"/>
            <a:ext cx="959494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c1502e"/>
                </a:solidFill>
                <a:latin typeface="Instrument Serif"/>
                <a:ea typeface="Instrument Serif"/>
              </a:rPr>
              <a:t>without clumping</a:t>
            </a:r>
          </a:p>
        </p:txBody>
      </p:sp>
      <p:sp>
        <p:nvSpPr>
          <p:cNvPr id="443" name="T443"/>
          <p:cNvSpPr txBox="1"/>
          <p:nvPr/>
        </p:nvSpPr>
        <p:spPr>
          <a:xfrm>
            <a:off x="3104554" y="3357562"/>
            <a:ext cx="1543347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when it hits the yolks.</a:t>
            </a:r>
          </a:p>
        </p:txBody>
      </p:sp>
      <p:sp>
        <p:nvSpPr>
          <p:cNvPr id="444" name="T444"/>
          <p:cNvSpPr txBox="1"/>
          <p:nvPr/>
        </p:nvSpPr>
        <p:spPr>
          <a:xfrm>
            <a:off x="762000" y="3741836"/>
            <a:ext cx="1300311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Whisking pastella.</a:t>
            </a:r>
          </a:p>
        </p:txBody>
      </p:sp>
      <p:sp>
        <p:nvSpPr>
          <p:cNvPr id="445" name="T445"/>
          <p:cNvSpPr txBox="1"/>
          <p:nvPr/>
        </p:nvSpPr>
        <p:spPr>
          <a:xfrm>
            <a:off x="2062311" y="3741836"/>
            <a:ext cx="3398043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Whisk the cheese, raw yolks, and freshly cracked</a:t>
            </a:r>
          </a:p>
        </p:txBody>
      </p:sp>
      <p:sp>
        <p:nvSpPr>
          <p:cNvPr id="446" name="T446"/>
          <p:cNvSpPr txBox="1"/>
          <p:nvPr/>
        </p:nvSpPr>
        <p:spPr>
          <a:xfrm>
            <a:off x="762000" y="3992760"/>
            <a:ext cx="4885432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pepper together. Temper with a tablespoon of hot pasta water to form a</a:t>
            </a:r>
          </a:p>
        </p:txBody>
      </p:sp>
      <p:sp>
        <p:nvSpPr>
          <p:cNvPr id="447" name="T447"/>
          <p:cNvSpPr txBox="1"/>
          <p:nvPr/>
        </p:nvSpPr>
        <p:spPr>
          <a:xfrm>
            <a:off x="762000" y="4243685"/>
            <a:ext cx="1941760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2a1810"/>
                </a:solidFill>
                <a:latin typeface="Source Serif 4"/>
                <a:ea typeface="Source Serif 4"/>
              </a:rPr>
              <a:t>smooth, thick, golden paste.</a:t>
            </a:r>
          </a:p>
        </p:txBody>
      </p:sp>
      <p:sp>
        <p:nvSpPr>
          <p:cNvPr id="448" name="L448"/>
          <p:cNvSpPr/>
          <p:nvPr/>
        </p:nvSpPr>
        <p:spPr>
          <a:xfrm>
            <a:off x="6381750" y="3224212"/>
            <a:ext cx="5048250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449" name="T449"/>
          <p:cNvSpPr txBox="1"/>
          <p:nvPr/>
        </p:nvSpPr>
        <p:spPr>
          <a:xfrm>
            <a:off x="6381750" y="1600200"/>
            <a:ext cx="11016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8b5a3c"/>
                </a:solidFill>
                <a:latin typeface="Inter"/>
                <a:ea typeface="Inter"/>
              </a:rPr>
              <a:t>THE STATISTIC</a:t>
            </a:r>
          </a:p>
        </p:txBody>
      </p:sp>
      <p:sp>
        <p:nvSpPr>
          <p:cNvPr id="450" name="T450"/>
          <p:cNvSpPr txBox="1"/>
          <p:nvPr/>
        </p:nvSpPr>
        <p:spPr>
          <a:xfrm>
            <a:off x="6381750" y="1957387"/>
            <a:ext cx="1392287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600">
                <a:solidFill>
                  <a:srgbClr val="c1502e"/>
                </a:solidFill>
                <a:latin typeface="Instrument Serif"/>
                <a:ea typeface="Instrument Serif"/>
              </a:rPr>
              <a:t>100%</a:t>
            </a:r>
          </a:p>
        </p:txBody>
      </p:sp>
      <p:sp>
        <p:nvSpPr>
          <p:cNvPr id="451" name="T451"/>
          <p:cNvSpPr txBox="1"/>
          <p:nvPr/>
        </p:nvSpPr>
        <p:spPr>
          <a:xfrm>
            <a:off x="6381750" y="2814637"/>
            <a:ext cx="107066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1f1410"/>
                </a:solidFill>
                <a:latin typeface="Source Serif 4"/>
                <a:ea typeface="Source Serif 4"/>
              </a:rPr>
              <a:t>Emulsion Base</a:t>
            </a:r>
          </a:p>
        </p:txBody>
      </p:sp>
      <p:sp>
        <p:nvSpPr>
          <p:cNvPr id="452" name="T452"/>
          <p:cNvSpPr txBox="1"/>
          <p:nvPr/>
        </p:nvSpPr>
        <p:spPr>
          <a:xfrm>
            <a:off x="6381750" y="3586162"/>
            <a:ext cx="66421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8b5a3c"/>
                </a:solidFill>
                <a:latin typeface="Inter"/>
                <a:ea typeface="Inter"/>
              </a:rPr>
              <a:t>PECORINO</a:t>
            </a:r>
          </a:p>
        </p:txBody>
      </p:sp>
      <p:sp>
        <p:nvSpPr>
          <p:cNvPr id="453" name="T453"/>
          <p:cNvSpPr txBox="1"/>
          <p:nvPr/>
        </p:nvSpPr>
        <p:spPr>
          <a:xfrm>
            <a:off x="11224170" y="3605212"/>
            <a:ext cx="20582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00">
                <a:solidFill>
                  <a:srgbClr val="c1502e"/>
                </a:solidFill>
                <a:latin typeface="JetBrains Mono"/>
                <a:ea typeface="JetBrains Mono"/>
              </a:rPr>
              <a:t>40%</a:t>
            </a:r>
          </a:p>
        </p:txBody>
      </p:sp>
      <p:sp>
        <p:nvSpPr>
          <p:cNvPr id="454" name="R454"/>
          <p:cNvSpPr/>
          <p:nvPr/>
        </p:nvSpPr>
        <p:spPr>
          <a:xfrm>
            <a:off x="6381750" y="3795712"/>
            <a:ext cx="5048250" cy="57150"/>
          </a:xfrm>
          <a:prstGeom prst="roundRect">
            <a:avLst>
              <a:gd name="adj" fmla="val 50000"/>
            </a:avLst>
          </a:prstGeom>
          <a:solidFill>
            <a:srgbClr val="c1502e">
              <a:alpha val="10000"/>
            </a:srgbClr>
          </a:solidFill>
        </p:spPr>
      </p:sp>
      <p:sp>
        <p:nvSpPr>
          <p:cNvPr id="455" name="R455"/>
          <p:cNvSpPr/>
          <p:nvPr/>
        </p:nvSpPr>
        <p:spPr>
          <a:xfrm>
            <a:off x="6381750" y="3795712"/>
            <a:ext cx="20193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1502e"/>
              </a:gs>
              <a:gs pos="100000">
                <a:srgbClr val="d97455"/>
              </a:gs>
            </a:gsLst>
            <a:lin ang="0" scaled="0"/>
          </a:gradFill>
        </p:spPr>
      </p:sp>
      <p:sp>
        <p:nvSpPr>
          <p:cNvPr id="456" name="T456"/>
          <p:cNvSpPr txBox="1"/>
          <p:nvPr/>
        </p:nvSpPr>
        <p:spPr>
          <a:xfrm>
            <a:off x="6381750" y="4157662"/>
            <a:ext cx="42401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8b5a3c"/>
                </a:solidFill>
                <a:latin typeface="Inter"/>
                <a:ea typeface="Inter"/>
              </a:rPr>
              <a:t>YOLKS</a:t>
            </a:r>
          </a:p>
        </p:txBody>
      </p:sp>
      <p:sp>
        <p:nvSpPr>
          <p:cNvPr id="457" name="T457"/>
          <p:cNvSpPr txBox="1"/>
          <p:nvPr/>
        </p:nvSpPr>
        <p:spPr>
          <a:xfrm>
            <a:off x="11224170" y="4176712"/>
            <a:ext cx="20582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00">
                <a:solidFill>
                  <a:srgbClr val="c1502e"/>
                </a:solidFill>
                <a:latin typeface="JetBrains Mono"/>
                <a:ea typeface="JetBrains Mono"/>
              </a:rPr>
              <a:t>45%</a:t>
            </a:r>
          </a:p>
        </p:txBody>
      </p:sp>
      <p:sp>
        <p:nvSpPr>
          <p:cNvPr id="458" name="R458"/>
          <p:cNvSpPr/>
          <p:nvPr/>
        </p:nvSpPr>
        <p:spPr>
          <a:xfrm>
            <a:off x="6381750" y="4367212"/>
            <a:ext cx="5048250" cy="57150"/>
          </a:xfrm>
          <a:prstGeom prst="roundRect">
            <a:avLst>
              <a:gd name="adj" fmla="val 50000"/>
            </a:avLst>
          </a:prstGeom>
          <a:solidFill>
            <a:srgbClr val="c1502e">
              <a:alpha val="10000"/>
            </a:srgbClr>
          </a:solidFill>
        </p:spPr>
      </p:sp>
      <p:sp>
        <p:nvSpPr>
          <p:cNvPr id="459" name="R459"/>
          <p:cNvSpPr/>
          <p:nvPr/>
        </p:nvSpPr>
        <p:spPr>
          <a:xfrm>
            <a:off x="6381750" y="4367212"/>
            <a:ext cx="2271712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1502e"/>
              </a:gs>
              <a:gs pos="100000">
                <a:srgbClr val="d97455"/>
              </a:gs>
            </a:gsLst>
            <a:lin ang="0" scaled="0"/>
          </a:gradFill>
        </p:spPr>
      </p:sp>
      <p:sp>
        <p:nvSpPr>
          <p:cNvPr id="460" name="T460"/>
          <p:cNvSpPr txBox="1"/>
          <p:nvPr/>
        </p:nvSpPr>
        <p:spPr>
          <a:xfrm>
            <a:off x="6381750" y="4729162"/>
            <a:ext cx="95666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8b5a3c"/>
                </a:solidFill>
                <a:latin typeface="Inter"/>
                <a:ea typeface="Inter"/>
              </a:rPr>
              <a:t>BLACK PEPPER</a:t>
            </a:r>
          </a:p>
        </p:txBody>
      </p:sp>
      <p:sp>
        <p:nvSpPr>
          <p:cNvPr id="461" name="T461"/>
          <p:cNvSpPr txBox="1"/>
          <p:nvPr/>
        </p:nvSpPr>
        <p:spPr>
          <a:xfrm>
            <a:off x="11224170" y="4748212"/>
            <a:ext cx="20582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00">
                <a:solidFill>
                  <a:srgbClr val="c1502e"/>
                </a:solidFill>
                <a:latin typeface="JetBrains Mono"/>
                <a:ea typeface="JetBrains Mono"/>
              </a:rPr>
              <a:t>10%</a:t>
            </a:r>
          </a:p>
        </p:txBody>
      </p:sp>
      <p:sp>
        <p:nvSpPr>
          <p:cNvPr id="462" name="R462"/>
          <p:cNvSpPr/>
          <p:nvPr/>
        </p:nvSpPr>
        <p:spPr>
          <a:xfrm>
            <a:off x="6381750" y="4938712"/>
            <a:ext cx="5048250" cy="57150"/>
          </a:xfrm>
          <a:prstGeom prst="roundRect">
            <a:avLst>
              <a:gd name="adj" fmla="val 50000"/>
            </a:avLst>
          </a:prstGeom>
          <a:solidFill>
            <a:srgbClr val="c1502e">
              <a:alpha val="10000"/>
            </a:srgbClr>
          </a:solidFill>
        </p:spPr>
      </p:sp>
      <p:sp>
        <p:nvSpPr>
          <p:cNvPr id="463" name="R463"/>
          <p:cNvSpPr/>
          <p:nvPr/>
        </p:nvSpPr>
        <p:spPr>
          <a:xfrm>
            <a:off x="6381750" y="4938712"/>
            <a:ext cx="504825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1502e"/>
              </a:gs>
              <a:gs pos="100000">
                <a:srgbClr val="d97455"/>
              </a:gs>
            </a:gsLst>
            <a:lin ang="0" scaled="0"/>
          </a:gradFill>
        </p:spPr>
      </p:sp>
      <p:sp>
        <p:nvSpPr>
          <p:cNvPr id="464" name="T464"/>
          <p:cNvSpPr txBox="1"/>
          <p:nvPr/>
        </p:nvSpPr>
        <p:spPr>
          <a:xfrm>
            <a:off x="6381750" y="5300662"/>
            <a:ext cx="99848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8b5a3c"/>
                </a:solidFill>
                <a:latin typeface="Inter"/>
                <a:ea typeface="Inter"/>
              </a:rPr>
              <a:t>STARCH WATER</a:t>
            </a:r>
          </a:p>
        </p:txBody>
      </p:sp>
      <p:sp>
        <p:nvSpPr>
          <p:cNvPr id="465" name="T465"/>
          <p:cNvSpPr txBox="1"/>
          <p:nvPr/>
        </p:nvSpPr>
        <p:spPr>
          <a:xfrm>
            <a:off x="11292780" y="5319712"/>
            <a:ext cx="13721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00">
                <a:solidFill>
                  <a:srgbClr val="c1502e"/>
                </a:solidFill>
                <a:latin typeface="JetBrains Mono"/>
                <a:ea typeface="JetBrains Mono"/>
              </a:rPr>
              <a:t>5%</a:t>
            </a:r>
          </a:p>
        </p:txBody>
      </p:sp>
      <p:sp>
        <p:nvSpPr>
          <p:cNvPr id="466" name="R466"/>
          <p:cNvSpPr/>
          <p:nvPr/>
        </p:nvSpPr>
        <p:spPr>
          <a:xfrm>
            <a:off x="6381750" y="5510212"/>
            <a:ext cx="5048250" cy="57150"/>
          </a:xfrm>
          <a:prstGeom prst="roundRect">
            <a:avLst>
              <a:gd name="adj" fmla="val 50000"/>
            </a:avLst>
          </a:prstGeom>
          <a:solidFill>
            <a:srgbClr val="c1502e">
              <a:alpha val="10000"/>
            </a:srgbClr>
          </a:solidFill>
        </p:spPr>
      </p:sp>
      <p:sp>
        <p:nvSpPr>
          <p:cNvPr id="467" name="R467"/>
          <p:cNvSpPr/>
          <p:nvPr/>
        </p:nvSpPr>
        <p:spPr>
          <a:xfrm>
            <a:off x="6381750" y="5510212"/>
            <a:ext cx="252412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1502e"/>
              </a:gs>
              <a:gs pos="100000">
                <a:srgbClr val="d97455"/>
              </a:gs>
            </a:gsLst>
            <a:lin ang="0" scaled="0"/>
          </a:gradFill>
        </p:spPr>
      </p:sp>
      <p:sp>
        <p:nvSpPr>
          <p:cNvPr id="468" name="T468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469" name="T469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470" name="T470"/>
          <p:cNvSpPr txBox="1"/>
          <p:nvPr/>
        </p:nvSpPr>
        <p:spPr>
          <a:xfrm>
            <a:off x="9876234" y="538162"/>
            <a:ext cx="53831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STEP III</a:t>
            </a:r>
          </a:p>
        </p:txBody>
      </p:sp>
      <p:sp>
        <p:nvSpPr>
          <p:cNvPr id="471" name="T471"/>
          <p:cNvSpPr txBox="1"/>
          <p:nvPr/>
        </p:nvSpPr>
        <p:spPr>
          <a:xfrm>
            <a:off x="10414545" y="538162"/>
            <a:ext cx="676572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PASTELLA</a:t>
            </a:r>
          </a:p>
        </p:txBody>
      </p:sp>
      <p:sp>
        <p:nvSpPr>
          <p:cNvPr id="472" name="T472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473" name="T473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474" name="T474"/>
          <p:cNvSpPr txBox="1"/>
          <p:nvPr/>
        </p:nvSpPr>
        <p:spPr>
          <a:xfrm>
            <a:off x="1063525" y="6167437"/>
            <a:ext cx="140806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STEP III · PASTELLA</a:t>
            </a:r>
          </a:p>
        </p:txBody>
      </p:sp>
      <p:sp>
        <p:nvSpPr>
          <p:cNvPr id="475" name="T475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6" name="R476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477" name="R477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478" name="R478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479" name="T479"/>
          <p:cNvSpPr txBox="1"/>
          <p:nvPr/>
        </p:nvSpPr>
        <p:spPr>
          <a:xfrm>
            <a:off x="762000" y="1452562"/>
            <a:ext cx="2125712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WHERE CARBONARA IS BORN</a:t>
            </a:r>
          </a:p>
        </p:txBody>
      </p:sp>
      <p:sp>
        <p:nvSpPr>
          <p:cNvPr id="480" name="T480"/>
          <p:cNvSpPr txBox="1"/>
          <p:nvPr/>
        </p:nvSpPr>
        <p:spPr>
          <a:xfrm>
            <a:off x="762000" y="1776412"/>
            <a:ext cx="28024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400">
                <a:solidFill>
                  <a:srgbClr val="c1502e"/>
                </a:solidFill>
                <a:latin typeface="Instrument Serif"/>
                <a:ea typeface="Instrument Serif"/>
              </a:rPr>
              <a:t>iv.</a:t>
            </a:r>
          </a:p>
        </p:txBody>
      </p:sp>
      <p:sp>
        <p:nvSpPr>
          <p:cNvPr id="481" name="T481"/>
          <p:cNvSpPr txBox="1"/>
          <p:nvPr/>
        </p:nvSpPr>
        <p:spPr>
          <a:xfrm>
            <a:off x="1175593" y="1914525"/>
            <a:ext cx="1148804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8b5a3c"/>
                </a:solidFill>
                <a:latin typeface="Inter"/>
                <a:ea typeface="Inter"/>
              </a:rPr>
              <a:t>THE FINAL STEP</a:t>
            </a:r>
          </a:p>
        </p:txBody>
      </p:sp>
      <p:sp>
        <p:nvSpPr>
          <p:cNvPr id="482" name="T482"/>
          <p:cNvSpPr txBox="1"/>
          <p:nvPr/>
        </p:nvSpPr>
        <p:spPr>
          <a:xfrm>
            <a:off x="762000" y="2309812"/>
            <a:ext cx="1992362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The Final</a:t>
            </a:r>
          </a:p>
        </p:txBody>
      </p:sp>
      <p:sp>
        <p:nvSpPr>
          <p:cNvPr id="483" name="T483"/>
          <p:cNvSpPr txBox="1"/>
          <p:nvPr/>
        </p:nvSpPr>
        <p:spPr>
          <a:xfrm>
            <a:off x="2754362" y="2300287"/>
            <a:ext cx="1676846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Emulsion</a:t>
            </a:r>
          </a:p>
        </p:txBody>
      </p:sp>
      <p:sp>
        <p:nvSpPr>
          <p:cNvPr id="484" name="T484"/>
          <p:cNvSpPr txBox="1"/>
          <p:nvPr/>
        </p:nvSpPr>
        <p:spPr>
          <a:xfrm>
            <a:off x="762000" y="2882800"/>
            <a:ext cx="3855392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4a3a30"/>
                </a:solidFill>
                <a:latin typeface="Source Serif 4"/>
                <a:ea typeface="Source Serif 4"/>
              </a:rPr>
              <a:t>Four movements, one perfect sauce. Everything must move in</a:t>
            </a:r>
          </a:p>
        </p:txBody>
      </p:sp>
      <p:sp>
        <p:nvSpPr>
          <p:cNvPr id="485" name="T485"/>
          <p:cNvSpPr txBox="1"/>
          <p:nvPr/>
        </p:nvSpPr>
        <p:spPr>
          <a:xfrm>
            <a:off x="4617392" y="2882800"/>
            <a:ext cx="687437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4a3a30"/>
                </a:solidFill>
                <a:latin typeface="Source Serif 4"/>
                <a:ea typeface="Source Serif 4"/>
              </a:rPr>
              <a:t>six seconds</a:t>
            </a:r>
          </a:p>
        </p:txBody>
      </p:sp>
      <p:sp>
        <p:nvSpPr>
          <p:cNvPr id="486" name="T486"/>
          <p:cNvSpPr txBox="1"/>
          <p:nvPr/>
        </p:nvSpPr>
        <p:spPr>
          <a:xfrm>
            <a:off x="5304829" y="2882800"/>
            <a:ext cx="43606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4a3a30"/>
                </a:solidFill>
                <a:latin typeface="Source Serif 4"/>
                <a:ea typeface="Source Serif 4"/>
              </a:rPr>
              <a:t>.</a:t>
            </a:r>
          </a:p>
        </p:txBody>
      </p:sp>
      <p:sp>
        <p:nvSpPr>
          <p:cNvPr id="487" name="R487"/>
          <p:cNvSpPr/>
          <p:nvPr/>
        </p:nvSpPr>
        <p:spPr>
          <a:xfrm>
            <a:off x="762000" y="3901975"/>
            <a:ext cx="10668000" cy="9525"/>
          </a:xfrm>
          <a:prstGeom prst="rect">
            <a:avLst/>
          </a:prstGeom>
          <a:gradFill>
            <a:gsLst>
              <a:gs pos="0">
                <a:srgbClr val="c1502e"/>
              </a:gs>
              <a:gs pos="50000">
                <a:srgbClr val="c1502e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</p:spPr>
      </p:sp>
      <p:sp>
        <p:nvSpPr>
          <p:cNvPr id="488" name="R488"/>
          <p:cNvSpPr/>
          <p:nvPr/>
        </p:nvSpPr>
        <p:spPr>
          <a:xfrm>
            <a:off x="762000" y="338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3ebde"/>
          </a:solidFill>
          <a:ln w="12700">
            <a:solidFill>
              <a:srgbClr val="c1502e"/>
            </a:solidFill>
          </a:ln>
        </p:spPr>
      </p:sp>
      <p:sp>
        <p:nvSpPr>
          <p:cNvPr id="489" name="T489"/>
          <p:cNvSpPr txBox="1"/>
          <p:nvPr/>
        </p:nvSpPr>
        <p:spPr>
          <a:xfrm>
            <a:off x="986135" y="3563838"/>
            <a:ext cx="659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c1502e"/>
                </a:solidFill>
                <a:latin typeface="Instrument Serif"/>
                <a:ea typeface="Instrument Serif"/>
              </a:rPr>
              <a:t>i</a:t>
            </a:r>
          </a:p>
        </p:txBody>
      </p:sp>
      <p:sp>
        <p:nvSpPr>
          <p:cNvPr id="490" name="T490"/>
          <p:cNvSpPr txBox="1"/>
          <p:nvPr/>
        </p:nvSpPr>
        <p:spPr>
          <a:xfrm>
            <a:off x="762000" y="4178200"/>
            <a:ext cx="47684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c1502e"/>
                </a:solidFill>
                <a:latin typeface="JetBrains Mono"/>
                <a:ea typeface="JetBrains Mono"/>
              </a:rPr>
              <a:t>+ 0 SEC</a:t>
            </a:r>
          </a:p>
        </p:txBody>
      </p:sp>
      <p:sp>
        <p:nvSpPr>
          <p:cNvPr id="491" name="T491"/>
          <p:cNvSpPr txBox="1"/>
          <p:nvPr/>
        </p:nvSpPr>
        <p:spPr>
          <a:xfrm>
            <a:off x="762000" y="4406800"/>
            <a:ext cx="5054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1f1410"/>
                </a:solidFill>
                <a:latin typeface="Source Serif 4"/>
                <a:ea typeface="Source Serif 4"/>
              </a:rPr>
              <a:t>Sauté</a:t>
            </a:r>
          </a:p>
        </p:txBody>
      </p:sp>
      <p:sp>
        <p:nvSpPr>
          <p:cNvPr id="492" name="T492"/>
          <p:cNvSpPr txBox="1"/>
          <p:nvPr/>
        </p:nvSpPr>
        <p:spPr>
          <a:xfrm>
            <a:off x="1267420" y="4397275"/>
            <a:ext cx="30167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c1502e"/>
                </a:solidFill>
                <a:latin typeface="Instrument Serif"/>
                <a:ea typeface="Instrument Serif"/>
              </a:rPr>
              <a:t>Coat</a:t>
            </a:r>
          </a:p>
        </p:txBody>
      </p:sp>
      <p:sp>
        <p:nvSpPr>
          <p:cNvPr id="493" name="T493"/>
          <p:cNvSpPr txBox="1"/>
          <p:nvPr/>
        </p:nvSpPr>
        <p:spPr>
          <a:xfrm>
            <a:off x="762000" y="4764881"/>
            <a:ext cx="225444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Transfer al dente pasta directly into</a:t>
            </a:r>
          </a:p>
        </p:txBody>
      </p:sp>
      <p:sp>
        <p:nvSpPr>
          <p:cNvPr id="494" name="T494"/>
          <p:cNvSpPr txBox="1"/>
          <p:nvPr/>
        </p:nvSpPr>
        <p:spPr>
          <a:xfrm>
            <a:off x="762000" y="4980830"/>
            <a:ext cx="2236142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the skillet with warm guanciale fat;</a:t>
            </a:r>
          </a:p>
        </p:txBody>
      </p:sp>
      <p:sp>
        <p:nvSpPr>
          <p:cNvPr id="495" name="T495"/>
          <p:cNvSpPr txBox="1"/>
          <p:nvPr/>
        </p:nvSpPr>
        <p:spPr>
          <a:xfrm>
            <a:off x="762000" y="5196780"/>
            <a:ext cx="118363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toss to coat evenly.</a:t>
            </a:r>
          </a:p>
        </p:txBody>
      </p:sp>
      <p:sp>
        <p:nvSpPr>
          <p:cNvPr id="496" name="R496"/>
          <p:cNvSpPr/>
          <p:nvPr/>
        </p:nvSpPr>
        <p:spPr>
          <a:xfrm>
            <a:off x="3500437" y="338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3ebde"/>
          </a:solidFill>
          <a:ln w="12700">
            <a:solidFill>
              <a:srgbClr val="c1502e"/>
            </a:solidFill>
          </a:ln>
        </p:spPr>
      </p:sp>
      <p:sp>
        <p:nvSpPr>
          <p:cNvPr id="497" name="T497"/>
          <p:cNvSpPr txBox="1"/>
          <p:nvPr/>
        </p:nvSpPr>
        <p:spPr>
          <a:xfrm>
            <a:off x="3691681" y="3563838"/>
            <a:ext cx="13171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c1502e"/>
                </a:solidFill>
                <a:latin typeface="Instrument Serif"/>
                <a:ea typeface="Instrument Serif"/>
              </a:rPr>
              <a:t>ii</a:t>
            </a:r>
          </a:p>
        </p:txBody>
      </p:sp>
      <p:sp>
        <p:nvSpPr>
          <p:cNvPr id="498" name="T498"/>
          <p:cNvSpPr txBox="1"/>
          <p:nvPr/>
        </p:nvSpPr>
        <p:spPr>
          <a:xfrm>
            <a:off x="3500437" y="4178200"/>
            <a:ext cx="544859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c1502e"/>
                </a:solidFill>
                <a:latin typeface="JetBrains Mono"/>
                <a:ea typeface="JetBrains Mono"/>
              </a:rPr>
              <a:t>+ 30 SEC</a:t>
            </a:r>
          </a:p>
        </p:txBody>
      </p:sp>
      <p:sp>
        <p:nvSpPr>
          <p:cNvPr id="499" name="T499"/>
          <p:cNvSpPr txBox="1"/>
          <p:nvPr/>
        </p:nvSpPr>
        <p:spPr>
          <a:xfrm>
            <a:off x="3500437" y="4406800"/>
            <a:ext cx="752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1f1410"/>
                </a:solidFill>
                <a:latin typeface="Source Serif 4"/>
                <a:ea typeface="Source Serif 4"/>
              </a:rPr>
              <a:t>Off-Heat</a:t>
            </a:r>
          </a:p>
        </p:txBody>
      </p:sp>
      <p:sp>
        <p:nvSpPr>
          <p:cNvPr id="500" name="T500"/>
          <p:cNvSpPr txBox="1"/>
          <p:nvPr/>
        </p:nvSpPr>
        <p:spPr>
          <a:xfrm>
            <a:off x="4252912" y="4397275"/>
            <a:ext cx="28634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c1502e"/>
                </a:solidFill>
                <a:latin typeface="Instrument Serif"/>
                <a:ea typeface="Instrument Serif"/>
              </a:rPr>
              <a:t>Cool</a:t>
            </a:r>
          </a:p>
        </p:txBody>
      </p:sp>
      <p:sp>
        <p:nvSpPr>
          <p:cNvPr id="501" name="T501"/>
          <p:cNvSpPr txBox="1"/>
          <p:nvPr/>
        </p:nvSpPr>
        <p:spPr>
          <a:xfrm>
            <a:off x="3500437" y="4764881"/>
            <a:ext cx="2347614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Let the skillet sit off the burner for 30</a:t>
            </a:r>
          </a:p>
        </p:txBody>
      </p:sp>
      <p:sp>
        <p:nvSpPr>
          <p:cNvPr id="502" name="T502"/>
          <p:cNvSpPr txBox="1"/>
          <p:nvPr/>
        </p:nvSpPr>
        <p:spPr>
          <a:xfrm>
            <a:off x="3500437" y="4980830"/>
            <a:ext cx="2077491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seconds. This is the moment that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3500437" y="5196780"/>
            <a:ext cx="1603176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prevents scrambled eggs.</a:t>
            </a:r>
          </a:p>
        </p:txBody>
      </p:sp>
      <p:sp>
        <p:nvSpPr>
          <p:cNvPr id="504" name="R504"/>
          <p:cNvSpPr/>
          <p:nvPr/>
        </p:nvSpPr>
        <p:spPr>
          <a:xfrm>
            <a:off x="6238875" y="338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3ebde"/>
          </a:solidFill>
          <a:ln w="12700">
            <a:solidFill>
              <a:srgbClr val="c1502e"/>
            </a:solidFill>
          </a:ln>
        </p:spPr>
      </p:sp>
      <p:sp>
        <p:nvSpPr>
          <p:cNvPr id="505" name="T505"/>
          <p:cNvSpPr txBox="1"/>
          <p:nvPr/>
        </p:nvSpPr>
        <p:spPr>
          <a:xfrm>
            <a:off x="6397228" y="3563838"/>
            <a:ext cx="19764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c1502e"/>
                </a:solidFill>
                <a:latin typeface="Instrument Serif"/>
                <a:ea typeface="Instrument Serif"/>
              </a:rPr>
              <a:t>iii</a:t>
            </a:r>
          </a:p>
        </p:txBody>
      </p:sp>
      <p:sp>
        <p:nvSpPr>
          <p:cNvPr id="506" name="T506"/>
          <p:cNvSpPr txBox="1"/>
          <p:nvPr/>
        </p:nvSpPr>
        <p:spPr>
          <a:xfrm>
            <a:off x="6238875" y="4178200"/>
            <a:ext cx="544859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c1502e"/>
                </a:solidFill>
                <a:latin typeface="JetBrains Mono"/>
                <a:ea typeface="JetBrains Mono"/>
              </a:rPr>
              <a:t>+ 60 SEC</a:t>
            </a:r>
          </a:p>
        </p:txBody>
      </p:sp>
      <p:sp>
        <p:nvSpPr>
          <p:cNvPr id="507" name="T507"/>
          <p:cNvSpPr txBox="1"/>
          <p:nvPr/>
        </p:nvSpPr>
        <p:spPr>
          <a:xfrm>
            <a:off x="6238875" y="4406800"/>
            <a:ext cx="44603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1f1410"/>
                </a:solidFill>
                <a:latin typeface="Source Serif 4"/>
                <a:ea typeface="Source Serif 4"/>
              </a:rPr>
              <a:t>Pour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6684912" y="4397275"/>
            <a:ext cx="3400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c1502e"/>
                </a:solidFill>
                <a:latin typeface="Instrument Serif"/>
                <a:ea typeface="Instrument Serif"/>
              </a:rPr>
              <a:t>Paste</a:t>
            </a:r>
          </a:p>
        </p:txBody>
      </p:sp>
      <p:sp>
        <p:nvSpPr>
          <p:cNvPr id="509" name="T509"/>
          <p:cNvSpPr txBox="1"/>
          <p:nvPr/>
        </p:nvSpPr>
        <p:spPr>
          <a:xfrm>
            <a:off x="6238875" y="4764881"/>
            <a:ext cx="239077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Pour the yolk-cheese pastella over the</a:t>
            </a:r>
          </a:p>
        </p:txBody>
      </p:sp>
      <p:sp>
        <p:nvSpPr>
          <p:cNvPr id="510" name="T510"/>
          <p:cNvSpPr txBox="1"/>
          <p:nvPr/>
        </p:nvSpPr>
        <p:spPr>
          <a:xfrm>
            <a:off x="6238875" y="4980830"/>
            <a:ext cx="193565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pasta, then throw in the crispy</a:t>
            </a:r>
          </a:p>
        </p:txBody>
      </p:sp>
      <p:sp>
        <p:nvSpPr>
          <p:cNvPr id="511" name="T511"/>
          <p:cNvSpPr txBox="1"/>
          <p:nvPr/>
        </p:nvSpPr>
        <p:spPr>
          <a:xfrm>
            <a:off x="6238875" y="5196780"/>
            <a:ext cx="108540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guanciale pieces.</a:t>
            </a:r>
          </a:p>
        </p:txBody>
      </p:sp>
      <p:sp>
        <p:nvSpPr>
          <p:cNvPr id="512" name="R512"/>
          <p:cNvSpPr/>
          <p:nvPr/>
        </p:nvSpPr>
        <p:spPr>
          <a:xfrm>
            <a:off x="8977312" y="338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3ebde"/>
          </a:solidFill>
          <a:ln w="12700">
            <a:solidFill>
              <a:srgbClr val="c1502e"/>
            </a:solidFill>
          </a:ln>
        </p:spPr>
      </p:sp>
      <p:sp>
        <p:nvSpPr>
          <p:cNvPr id="513" name="T513"/>
          <p:cNvSpPr txBox="1"/>
          <p:nvPr/>
        </p:nvSpPr>
        <p:spPr>
          <a:xfrm>
            <a:off x="9154417" y="3563838"/>
            <a:ext cx="16013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c1502e"/>
                </a:solidFill>
                <a:latin typeface="Instrument Serif"/>
                <a:ea typeface="Instrument Serif"/>
              </a:rPr>
              <a:t>iv</a:t>
            </a:r>
          </a:p>
        </p:txBody>
      </p:sp>
      <p:sp>
        <p:nvSpPr>
          <p:cNvPr id="514" name="T514"/>
          <p:cNvSpPr txBox="1"/>
          <p:nvPr/>
        </p:nvSpPr>
        <p:spPr>
          <a:xfrm>
            <a:off x="8977312" y="4178200"/>
            <a:ext cx="544859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c1502e"/>
                </a:solidFill>
                <a:latin typeface="JetBrains Mono"/>
                <a:ea typeface="JetBrains Mono"/>
              </a:rPr>
              <a:t>+ 90 SEC</a:t>
            </a:r>
          </a:p>
        </p:txBody>
      </p:sp>
      <p:sp>
        <p:nvSpPr>
          <p:cNvPr id="515" name="T515"/>
          <p:cNvSpPr txBox="1"/>
          <p:nvPr/>
        </p:nvSpPr>
        <p:spPr>
          <a:xfrm>
            <a:off x="8977312" y="4406800"/>
            <a:ext cx="53518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1f1410"/>
                </a:solidFill>
                <a:latin typeface="Source Serif 4"/>
                <a:ea typeface="Source Serif 4"/>
              </a:rPr>
              <a:t>Rapid</a:t>
            </a:r>
          </a:p>
        </p:txBody>
      </p:sp>
      <p:sp>
        <p:nvSpPr>
          <p:cNvPr id="516" name="T516"/>
          <p:cNvSpPr txBox="1"/>
          <p:nvPr/>
        </p:nvSpPr>
        <p:spPr>
          <a:xfrm>
            <a:off x="9512498" y="4397275"/>
            <a:ext cx="62358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500">
                <a:solidFill>
                  <a:srgbClr val="c1502e"/>
                </a:solidFill>
                <a:latin typeface="Instrument Serif"/>
                <a:ea typeface="Instrument Serif"/>
              </a:rPr>
              <a:t>Agitation</a:t>
            </a:r>
          </a:p>
        </p:txBody>
      </p:sp>
      <p:sp>
        <p:nvSpPr>
          <p:cNvPr id="517" name="T517"/>
          <p:cNvSpPr txBox="1"/>
          <p:nvPr/>
        </p:nvSpPr>
        <p:spPr>
          <a:xfrm>
            <a:off x="8977312" y="4764881"/>
            <a:ext cx="195887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Add a ladle of pasta water. Toss</a:t>
            </a:r>
          </a:p>
        </p:txBody>
      </p:sp>
      <p:sp>
        <p:nvSpPr>
          <p:cNvPr id="518" name="T518"/>
          <p:cNvSpPr txBox="1"/>
          <p:nvPr/>
        </p:nvSpPr>
        <p:spPr>
          <a:xfrm>
            <a:off x="8977312" y="4980830"/>
            <a:ext cx="2290316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aggressively to create a creamy, silk-</a:t>
            </a:r>
          </a:p>
        </p:txBody>
      </p:sp>
      <p:sp>
        <p:nvSpPr>
          <p:cNvPr id="519" name="T519"/>
          <p:cNvSpPr txBox="1"/>
          <p:nvPr/>
        </p:nvSpPr>
        <p:spPr>
          <a:xfrm>
            <a:off x="8977312" y="5196780"/>
            <a:ext cx="136386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like golden emulsion.</a:t>
            </a:r>
          </a:p>
        </p:txBody>
      </p:sp>
      <p:sp>
        <p:nvSpPr>
          <p:cNvPr id="520" name="T520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521" name="T521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522" name="T522"/>
          <p:cNvSpPr txBox="1"/>
          <p:nvPr/>
        </p:nvSpPr>
        <p:spPr>
          <a:xfrm>
            <a:off x="9855993" y="538162"/>
            <a:ext cx="53265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STEP IV</a:t>
            </a:r>
          </a:p>
        </p:txBody>
      </p:sp>
      <p:sp>
        <p:nvSpPr>
          <p:cNvPr id="523" name="T523"/>
          <p:cNvSpPr txBox="1"/>
          <p:nvPr/>
        </p:nvSpPr>
        <p:spPr>
          <a:xfrm>
            <a:off x="10388649" y="538162"/>
            <a:ext cx="702468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EMULSION</a:t>
            </a:r>
          </a:p>
        </p:txBody>
      </p:sp>
      <p:sp>
        <p:nvSpPr>
          <p:cNvPr id="524" name="T524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525" name="T525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526" name="T526"/>
          <p:cNvSpPr txBox="1"/>
          <p:nvPr/>
        </p:nvSpPr>
        <p:spPr>
          <a:xfrm>
            <a:off x="1063525" y="6167437"/>
            <a:ext cx="142160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STEP IV · EMULSION</a:t>
            </a:r>
          </a:p>
        </p:txBody>
      </p:sp>
      <p:sp>
        <p:nvSpPr>
          <p:cNvPr id="527" name="T527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8" name="R528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529" name="R529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530" name="R530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531" name="T531"/>
          <p:cNvSpPr txBox="1"/>
          <p:nvPr/>
        </p:nvSpPr>
        <p:spPr>
          <a:xfrm>
            <a:off x="762000" y="1452562"/>
            <a:ext cx="2254746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MASTER CLASS · FIELD NOTES</a:t>
            </a:r>
          </a:p>
        </p:txBody>
      </p:sp>
      <p:sp>
        <p:nvSpPr>
          <p:cNvPr id="532" name="T532"/>
          <p:cNvSpPr txBox="1"/>
          <p:nvPr/>
        </p:nvSpPr>
        <p:spPr>
          <a:xfrm>
            <a:off x="762000" y="1833562"/>
            <a:ext cx="2615356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1f1410"/>
                </a:solidFill>
                <a:latin typeface="Source Serif 4"/>
                <a:ea typeface="Source Serif 4"/>
              </a:rPr>
              <a:t>Master Class</a:t>
            </a:r>
          </a:p>
        </p:txBody>
      </p:sp>
      <p:sp>
        <p:nvSpPr>
          <p:cNvPr id="533" name="T533"/>
          <p:cNvSpPr txBox="1"/>
          <p:nvPr/>
        </p:nvSpPr>
        <p:spPr>
          <a:xfrm>
            <a:off x="3377356" y="1824037"/>
            <a:ext cx="2791420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050">
                <a:solidFill>
                  <a:srgbClr val="c1502e"/>
                </a:solidFill>
                <a:latin typeface="Instrument Serif"/>
                <a:ea typeface="Instrument Serif"/>
              </a:rPr>
              <a:t>Troubleshooting</a:t>
            </a:r>
          </a:p>
        </p:txBody>
      </p:sp>
      <p:sp>
        <p:nvSpPr>
          <p:cNvPr id="534" name="T534"/>
          <p:cNvSpPr txBox="1"/>
          <p:nvPr/>
        </p:nvSpPr>
        <p:spPr>
          <a:xfrm>
            <a:off x="762000" y="2406550"/>
            <a:ext cx="3372742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4a3a30"/>
                </a:solidFill>
                <a:latin typeface="Source Serif 4"/>
                <a:ea typeface="Source Serif 4"/>
              </a:rPr>
              <a:t>When things go wrong — and how to bring them back.</a:t>
            </a:r>
          </a:p>
        </p:txBody>
      </p:sp>
      <p:sp>
        <p:nvSpPr>
          <p:cNvPr id="535" name="L535"/>
          <p:cNvSpPr/>
          <p:nvPr/>
        </p:nvSpPr>
        <p:spPr>
          <a:xfrm>
            <a:off x="762000" y="2892325"/>
            <a:ext cx="10668000" cy="9525"/>
          </a:xfrm>
          <a:prstGeom prst="line">
            <a:avLst/>
          </a:prstGeom>
          <a:noFill/>
          <a:ln w="12700">
            <a:solidFill>
              <a:srgbClr val="1f1410"/>
            </a:solidFill>
          </a:ln>
        </p:spPr>
      </p:sp>
      <p:sp>
        <p:nvSpPr>
          <p:cNvPr id="536" name="L536"/>
          <p:cNvSpPr/>
          <p:nvPr/>
        </p:nvSpPr>
        <p:spPr>
          <a:xfrm>
            <a:off x="4317950" y="2901850"/>
            <a:ext cx="9525" cy="3152626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537" name="P537"/>
          <p:cNvSpPr/>
          <p:nvPr/>
        </p:nvSpPr>
        <p:spPr>
          <a:xfrm>
            <a:off x="1041397" y="4275520"/>
            <a:ext cx="177799" cy="1777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1428" y="0"/>
                </a:moveTo>
                <a:lnTo>
                  <a:pt x="71428" y="42857"/>
                </a:lnTo>
                <a:moveTo>
                  <a:pt x="71428" y="100000"/>
                </a:moveTo>
                <a:lnTo>
                  <a:pt x="71428" y="142857"/>
                </a:lnTo>
                <a:moveTo>
                  <a:pt x="0" y="71428"/>
                </a:moveTo>
                <a:lnTo>
                  <a:pt x="42857" y="71428"/>
                </a:lnTo>
                <a:moveTo>
                  <a:pt x="100000" y="71428"/>
                </a:moveTo>
                <a:lnTo>
                  <a:pt x="142857" y="71428"/>
                </a:lnTo>
              </a:path>
            </a:pathLst>
          </a:custGeom>
          <a:noFill/>
          <a:ln w="19050">
            <a:solidFill>
              <a:srgbClr val="c1502e"/>
            </a:solidFill>
          </a:ln>
        </p:spPr>
      </p:sp>
      <p:sp>
        <p:nvSpPr>
          <p:cNvPr id="538" name="C538"/>
          <p:cNvSpPr/>
          <p:nvPr/>
        </p:nvSpPr>
        <p:spPr>
          <a:xfrm>
            <a:off x="876299" y="3301898"/>
            <a:ext cx="76199" cy="76199"/>
          </a:xfrm>
          <a:prstGeom prst="ellipse">
            <a:avLst/>
          </a:prstGeom>
          <a:solidFill>
            <a:srgbClr val="c1502e"/>
          </a:solidFill>
          <a:ln w="19050">
            <a:solidFill>
              <a:srgbClr val="c1502e"/>
            </a:solidFill>
          </a:ln>
        </p:spPr>
      </p:sp>
      <p:sp>
        <p:nvSpPr>
          <p:cNvPr id="539" name="T539"/>
          <p:cNvSpPr txBox="1"/>
          <p:nvPr/>
        </p:nvSpPr>
        <p:spPr>
          <a:xfrm>
            <a:off x="762000" y="3706713"/>
            <a:ext cx="899070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THE SYMPTOM</a:t>
            </a:r>
          </a:p>
        </p:txBody>
      </p:sp>
      <p:sp>
        <p:nvSpPr>
          <p:cNvPr id="540" name="T540"/>
          <p:cNvSpPr txBox="1"/>
          <p:nvPr/>
        </p:nvSpPr>
        <p:spPr>
          <a:xfrm>
            <a:off x="762000" y="3978175"/>
            <a:ext cx="911869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1f1410"/>
                </a:solidFill>
                <a:latin typeface="Source Serif 4"/>
                <a:ea typeface="Source Serif 4"/>
              </a:rPr>
              <a:t>Scrambled</a:t>
            </a:r>
          </a:p>
        </p:txBody>
      </p:sp>
      <p:sp>
        <p:nvSpPr>
          <p:cNvPr id="541" name="T541"/>
          <p:cNvSpPr txBox="1"/>
          <p:nvPr/>
        </p:nvSpPr>
        <p:spPr>
          <a:xfrm>
            <a:off x="1673869" y="3978175"/>
            <a:ext cx="334565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c1502e"/>
                </a:solidFill>
                <a:latin typeface="Instrument Serif"/>
                <a:ea typeface="Instrument Serif"/>
              </a:rPr>
              <a:t>Eggs?</a:t>
            </a:r>
          </a:p>
        </p:txBody>
      </p:sp>
      <p:sp>
        <p:nvSpPr>
          <p:cNvPr id="542" name="T542"/>
          <p:cNvSpPr txBox="1"/>
          <p:nvPr/>
        </p:nvSpPr>
        <p:spPr>
          <a:xfrm>
            <a:off x="762000" y="4315420"/>
            <a:ext cx="327674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The pan was too hot. Residual heat cooked the yolks</a:t>
            </a:r>
          </a:p>
        </p:txBody>
      </p:sp>
      <p:sp>
        <p:nvSpPr>
          <p:cNvPr id="543" name="T543"/>
          <p:cNvSpPr txBox="1"/>
          <p:nvPr/>
        </p:nvSpPr>
        <p:spPr>
          <a:xfrm>
            <a:off x="762000" y="4531369"/>
            <a:ext cx="239955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into curds before they could emulsify.</a:t>
            </a:r>
          </a:p>
        </p:txBody>
      </p:sp>
      <p:sp>
        <p:nvSpPr>
          <p:cNvPr id="544" name="R544"/>
          <p:cNvSpPr/>
          <p:nvPr/>
        </p:nvSpPr>
        <p:spPr>
          <a:xfrm>
            <a:off x="762000" y="4794944"/>
            <a:ext cx="3317825" cy="973782"/>
          </a:xfrm>
          <a:prstGeom prst="rect">
            <a:avLst/>
          </a:prstGeom>
          <a:solidFill>
            <a:srgbClr val="c1502e">
              <a:alpha val="7000"/>
            </a:srgbClr>
          </a:solidFill>
        </p:spPr>
      </p:sp>
      <p:sp>
        <p:nvSpPr>
          <p:cNvPr id="545" name="L545"/>
          <p:cNvSpPr/>
          <p:nvPr/>
        </p:nvSpPr>
        <p:spPr>
          <a:xfrm>
            <a:off x="762000" y="4794944"/>
            <a:ext cx="9525" cy="973782"/>
          </a:xfrm>
          <a:prstGeom prst="line">
            <a:avLst/>
          </a:prstGeom>
          <a:noFill/>
          <a:ln w="12700">
            <a:solidFill>
              <a:srgbClr val="c1502e"/>
            </a:solidFill>
          </a:ln>
        </p:spPr>
      </p:sp>
      <p:sp>
        <p:nvSpPr>
          <p:cNvPr id="546" name="T546"/>
          <p:cNvSpPr txBox="1"/>
          <p:nvPr/>
        </p:nvSpPr>
        <p:spPr>
          <a:xfrm>
            <a:off x="885825" y="4933057"/>
            <a:ext cx="582513" cy="164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62">
                <a:solidFill>
                  <a:srgbClr val="1f1410"/>
                </a:solidFill>
                <a:latin typeface="Source Serif 4"/>
                <a:ea typeface="Source Serif 4"/>
              </a:rPr>
              <a:t>THE FIX</a:t>
            </a:r>
          </a:p>
        </p:txBody>
      </p:sp>
      <p:sp>
        <p:nvSpPr>
          <p:cNvPr id="547" name="T547"/>
          <p:cNvSpPr txBox="1"/>
          <p:nvPr/>
        </p:nvSpPr>
        <p:spPr>
          <a:xfrm>
            <a:off x="885825" y="5145583"/>
            <a:ext cx="2490936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Let the pan sit longer next run, or splash a</a:t>
            </a:r>
          </a:p>
        </p:txBody>
      </p:sp>
      <p:sp>
        <p:nvSpPr>
          <p:cNvPr id="548" name="T548"/>
          <p:cNvSpPr txBox="1"/>
          <p:nvPr/>
        </p:nvSpPr>
        <p:spPr>
          <a:xfrm>
            <a:off x="885825" y="5337423"/>
            <a:ext cx="287000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tablespoon of cool pasta water before adding the</a:t>
            </a:r>
          </a:p>
        </p:txBody>
      </p:sp>
      <p:sp>
        <p:nvSpPr>
          <p:cNvPr id="549" name="T549"/>
          <p:cNvSpPr txBox="1"/>
          <p:nvPr/>
        </p:nvSpPr>
        <p:spPr>
          <a:xfrm>
            <a:off x="885825" y="5529262"/>
            <a:ext cx="58489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egg paste.</a:t>
            </a:r>
          </a:p>
        </p:txBody>
      </p:sp>
      <p:sp>
        <p:nvSpPr>
          <p:cNvPr id="550" name="L550"/>
          <p:cNvSpPr/>
          <p:nvPr/>
        </p:nvSpPr>
        <p:spPr>
          <a:xfrm>
            <a:off x="7873900" y="2901850"/>
            <a:ext cx="9525" cy="3152626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551" name="P551"/>
          <p:cNvSpPr/>
          <p:nvPr/>
        </p:nvSpPr>
        <p:spPr>
          <a:xfrm>
            <a:off x="5642951" y="4135820"/>
            <a:ext cx="228599" cy="2666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6666" y="100000"/>
                </a:moveTo>
                <a:cubicBezTo>
                  <a:pt x="66666" y="76190"/>
                  <a:pt x="88888" y="57142"/>
                  <a:pt x="116666" y="57142"/>
                </a:cubicBezTo>
                <a:close/>
              </a:path>
            </a:pathLst>
          </a:custGeom>
          <a:noFill/>
          <a:ln w="19050">
            <a:solidFill>
              <a:srgbClr val="c1502e"/>
            </a:solidFill>
          </a:ln>
        </p:spPr>
      </p:sp>
      <p:sp>
        <p:nvSpPr>
          <p:cNvPr id="552" name="T552"/>
          <p:cNvSpPr txBox="1"/>
          <p:nvPr/>
        </p:nvSpPr>
        <p:spPr>
          <a:xfrm>
            <a:off x="4317950" y="3706713"/>
            <a:ext cx="899070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THE SYMPTOM</a:t>
            </a:r>
          </a:p>
        </p:txBody>
      </p:sp>
      <p:sp>
        <p:nvSpPr>
          <p:cNvPr id="553" name="T553"/>
          <p:cNvSpPr txBox="1"/>
          <p:nvPr/>
        </p:nvSpPr>
        <p:spPr>
          <a:xfrm>
            <a:off x="4317950" y="3978175"/>
            <a:ext cx="1091654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1f1410"/>
                </a:solidFill>
                <a:latin typeface="Source Serif 4"/>
                <a:ea typeface="Source Serif 4"/>
              </a:rPr>
              <a:t>Dry or Sticky</a:t>
            </a:r>
          </a:p>
        </p:txBody>
      </p:sp>
      <p:sp>
        <p:nvSpPr>
          <p:cNvPr id="554" name="T554"/>
          <p:cNvSpPr txBox="1"/>
          <p:nvPr/>
        </p:nvSpPr>
        <p:spPr>
          <a:xfrm>
            <a:off x="5409604" y="3978175"/>
            <a:ext cx="435024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c1502e"/>
                </a:solidFill>
                <a:latin typeface="Instrument Serif"/>
                <a:ea typeface="Instrument Serif"/>
              </a:rPr>
              <a:t>Sauce?</a:t>
            </a:r>
          </a:p>
        </p:txBody>
      </p:sp>
      <p:sp>
        <p:nvSpPr>
          <p:cNvPr id="555" name="T555"/>
          <p:cNvSpPr txBox="1"/>
          <p:nvPr/>
        </p:nvSpPr>
        <p:spPr>
          <a:xfrm>
            <a:off x="4317950" y="4315420"/>
            <a:ext cx="2702421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The emulsion lost moisture — too much fat</a:t>
            </a:r>
          </a:p>
        </p:txBody>
      </p:sp>
      <p:sp>
        <p:nvSpPr>
          <p:cNvPr id="556" name="T556"/>
          <p:cNvSpPr txBox="1"/>
          <p:nvPr/>
        </p:nvSpPr>
        <p:spPr>
          <a:xfrm>
            <a:off x="4317950" y="4531369"/>
            <a:ext cx="295423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absorbed by the pasta, or the pan was too cold.</a:t>
            </a:r>
          </a:p>
        </p:txBody>
      </p:sp>
      <p:sp>
        <p:nvSpPr>
          <p:cNvPr id="557" name="R557"/>
          <p:cNvSpPr/>
          <p:nvPr/>
        </p:nvSpPr>
        <p:spPr>
          <a:xfrm>
            <a:off x="4317950" y="4794944"/>
            <a:ext cx="3317825" cy="781942"/>
          </a:xfrm>
          <a:prstGeom prst="rect">
            <a:avLst/>
          </a:prstGeom>
          <a:solidFill>
            <a:srgbClr val="c1502e">
              <a:alpha val="7000"/>
            </a:srgbClr>
          </a:solidFill>
        </p:spPr>
      </p:sp>
      <p:sp>
        <p:nvSpPr>
          <p:cNvPr id="558" name="L558"/>
          <p:cNvSpPr/>
          <p:nvPr/>
        </p:nvSpPr>
        <p:spPr>
          <a:xfrm>
            <a:off x="4317950" y="4794944"/>
            <a:ext cx="9525" cy="781942"/>
          </a:xfrm>
          <a:prstGeom prst="line">
            <a:avLst/>
          </a:prstGeom>
          <a:noFill/>
          <a:ln w="12700">
            <a:solidFill>
              <a:srgbClr val="c1502e"/>
            </a:solidFill>
          </a:ln>
        </p:spPr>
      </p:sp>
      <p:sp>
        <p:nvSpPr>
          <p:cNvPr id="559" name="T559"/>
          <p:cNvSpPr txBox="1"/>
          <p:nvPr/>
        </p:nvSpPr>
        <p:spPr>
          <a:xfrm>
            <a:off x="4441775" y="4933057"/>
            <a:ext cx="582513" cy="164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62">
                <a:solidFill>
                  <a:srgbClr val="1f1410"/>
                </a:solidFill>
                <a:latin typeface="Source Serif 4"/>
                <a:ea typeface="Source Serif 4"/>
              </a:rPr>
              <a:t>THE FIX</a:t>
            </a:r>
          </a:p>
        </p:txBody>
      </p:sp>
      <p:sp>
        <p:nvSpPr>
          <p:cNvPr id="560" name="T560"/>
          <p:cNvSpPr txBox="1"/>
          <p:nvPr/>
        </p:nvSpPr>
        <p:spPr>
          <a:xfrm>
            <a:off x="4441775" y="5145583"/>
            <a:ext cx="2716113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Slowly stir in reserved pasta starch water, one</a:t>
            </a:r>
          </a:p>
        </p:txBody>
      </p:sp>
      <p:sp>
        <p:nvSpPr>
          <p:cNvPr id="561" name="T561"/>
          <p:cNvSpPr txBox="1"/>
          <p:nvPr/>
        </p:nvSpPr>
        <p:spPr>
          <a:xfrm>
            <a:off x="4441775" y="5337423"/>
            <a:ext cx="2706588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tablespoon at a time, off the heat, until silken.</a:t>
            </a:r>
          </a:p>
        </p:txBody>
      </p:sp>
      <p:sp>
        <p:nvSpPr>
          <p:cNvPr id="562" name="R562"/>
          <p:cNvSpPr/>
          <p:nvPr/>
        </p:nvSpPr>
        <p:spPr>
          <a:xfrm>
            <a:off x="7911998" y="3225698"/>
            <a:ext cx="228599" cy="228599"/>
          </a:xfrm>
          <a:prstGeom prst="roundRect">
            <a:avLst>
              <a:gd name="adj" fmla="val 8333"/>
            </a:avLst>
          </a:prstGeom>
          <a:noFill/>
          <a:ln w="19050">
            <a:solidFill>
              <a:srgbClr val="c1502e"/>
            </a:solidFill>
          </a:ln>
        </p:spPr>
      </p:sp>
      <p:sp>
        <p:nvSpPr>
          <p:cNvPr id="563" name="P563"/>
          <p:cNvSpPr/>
          <p:nvPr/>
        </p:nvSpPr>
        <p:spPr>
          <a:xfrm>
            <a:off x="10536604" y="4364420"/>
            <a:ext cx="190499" cy="1142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20000" y="0"/>
                </a:lnTo>
                <a:moveTo>
                  <a:pt x="40000" y="-66666"/>
                </a:moveTo>
                <a:lnTo>
                  <a:pt x="40000" y="133333"/>
                </a:lnTo>
              </a:path>
            </a:pathLst>
          </a:custGeom>
          <a:noFill/>
          <a:ln w="19050">
            <a:solidFill>
              <a:srgbClr val="c1502e"/>
            </a:solidFill>
          </a:ln>
        </p:spPr>
      </p:sp>
      <p:sp>
        <p:nvSpPr>
          <p:cNvPr id="564" name="T564"/>
          <p:cNvSpPr txBox="1"/>
          <p:nvPr/>
        </p:nvSpPr>
        <p:spPr>
          <a:xfrm>
            <a:off x="7873900" y="3706713"/>
            <a:ext cx="899070" cy="1357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12">
                <a:solidFill>
                  <a:srgbClr val="8b5a3c"/>
                </a:solidFill>
                <a:latin typeface="Inter"/>
                <a:ea typeface="Inter"/>
              </a:rPr>
              <a:t>THE SYMPTOM</a:t>
            </a:r>
          </a:p>
        </p:txBody>
      </p:sp>
      <p:sp>
        <p:nvSpPr>
          <p:cNvPr id="565" name="T565"/>
          <p:cNvSpPr txBox="1"/>
          <p:nvPr/>
        </p:nvSpPr>
        <p:spPr>
          <a:xfrm>
            <a:off x="7873900" y="3978175"/>
            <a:ext cx="840581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1f1410"/>
                </a:solidFill>
                <a:latin typeface="Source Serif 4"/>
                <a:ea typeface="Source Serif 4"/>
              </a:rPr>
              <a:t>Clumping</a:t>
            </a:r>
          </a:p>
        </p:txBody>
      </p:sp>
      <p:sp>
        <p:nvSpPr>
          <p:cNvPr id="566" name="T566"/>
          <p:cNvSpPr txBox="1"/>
          <p:nvPr/>
        </p:nvSpPr>
        <p:spPr>
          <a:xfrm>
            <a:off x="8714482" y="3978175"/>
            <a:ext cx="467915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c1502e"/>
                </a:solidFill>
                <a:latin typeface="Instrument Serif"/>
                <a:ea typeface="Instrument Serif"/>
              </a:rPr>
              <a:t>Cheese?</a:t>
            </a:r>
          </a:p>
        </p:txBody>
      </p:sp>
      <p:sp>
        <p:nvSpPr>
          <p:cNvPr id="567" name="T567"/>
          <p:cNvSpPr txBox="1"/>
          <p:nvPr/>
        </p:nvSpPr>
        <p:spPr>
          <a:xfrm>
            <a:off x="7873900" y="4315420"/>
            <a:ext cx="2940843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The Pecorino was grated too coarsely, or it was</a:t>
            </a:r>
          </a:p>
        </p:txBody>
      </p:sp>
      <p:sp>
        <p:nvSpPr>
          <p:cNvPr id="568" name="T568"/>
          <p:cNvSpPr txBox="1"/>
          <p:nvPr/>
        </p:nvSpPr>
        <p:spPr>
          <a:xfrm>
            <a:off x="7873900" y="4531369"/>
            <a:ext cx="295587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">
                <a:solidFill>
                  <a:srgbClr val="4a3a30"/>
                </a:solidFill>
                <a:latin typeface="Source Serif 4"/>
                <a:ea typeface="Source Serif 4"/>
              </a:rPr>
              <a:t>tossed onto dry pasta before the fat was added.</a:t>
            </a:r>
          </a:p>
        </p:txBody>
      </p:sp>
      <p:sp>
        <p:nvSpPr>
          <p:cNvPr id="569" name="R569"/>
          <p:cNvSpPr/>
          <p:nvPr/>
        </p:nvSpPr>
        <p:spPr>
          <a:xfrm>
            <a:off x="7873900" y="4794944"/>
            <a:ext cx="3327499" cy="781942"/>
          </a:xfrm>
          <a:prstGeom prst="rect">
            <a:avLst/>
          </a:prstGeom>
          <a:solidFill>
            <a:srgbClr val="c1502e">
              <a:alpha val="7000"/>
            </a:srgbClr>
          </a:solidFill>
        </p:spPr>
      </p:sp>
      <p:sp>
        <p:nvSpPr>
          <p:cNvPr id="570" name="L570"/>
          <p:cNvSpPr/>
          <p:nvPr/>
        </p:nvSpPr>
        <p:spPr>
          <a:xfrm>
            <a:off x="7873900" y="4794944"/>
            <a:ext cx="9525" cy="781942"/>
          </a:xfrm>
          <a:prstGeom prst="line">
            <a:avLst/>
          </a:prstGeom>
          <a:noFill/>
          <a:ln w="12700">
            <a:solidFill>
              <a:srgbClr val="c1502e"/>
            </a:solidFill>
          </a:ln>
        </p:spPr>
      </p:sp>
      <p:sp>
        <p:nvSpPr>
          <p:cNvPr id="571" name="T571"/>
          <p:cNvSpPr txBox="1"/>
          <p:nvPr/>
        </p:nvSpPr>
        <p:spPr>
          <a:xfrm>
            <a:off x="7997725" y="4933057"/>
            <a:ext cx="582513" cy="164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62">
                <a:solidFill>
                  <a:srgbClr val="1f1410"/>
                </a:solidFill>
                <a:latin typeface="Source Serif 4"/>
                <a:ea typeface="Source Serif 4"/>
              </a:rPr>
              <a:t>THE FIX</a:t>
            </a:r>
          </a:p>
        </p:txBody>
      </p:sp>
      <p:sp>
        <p:nvSpPr>
          <p:cNvPr id="572" name="T572"/>
          <p:cNvSpPr txBox="1"/>
          <p:nvPr/>
        </p:nvSpPr>
        <p:spPr>
          <a:xfrm>
            <a:off x="7997725" y="5145583"/>
            <a:ext cx="2960340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Use a microplane, and always mix the cheese with</a:t>
            </a:r>
          </a:p>
        </p:txBody>
      </p:sp>
      <p:sp>
        <p:nvSpPr>
          <p:cNvPr id="573" name="T573"/>
          <p:cNvSpPr txBox="1"/>
          <p:nvPr/>
        </p:nvSpPr>
        <p:spPr>
          <a:xfrm>
            <a:off x="7997725" y="5337423"/>
            <a:ext cx="127560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the yolks into a paste</a:t>
            </a:r>
          </a:p>
        </p:txBody>
      </p:sp>
      <p:sp>
        <p:nvSpPr>
          <p:cNvPr id="574" name="T574"/>
          <p:cNvSpPr txBox="1"/>
          <p:nvPr/>
        </p:nvSpPr>
        <p:spPr>
          <a:xfrm>
            <a:off x="9273331" y="5337423"/>
            <a:ext cx="216098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first</a:t>
            </a:r>
          </a:p>
        </p:txBody>
      </p:sp>
      <p:sp>
        <p:nvSpPr>
          <p:cNvPr id="575" name="T575"/>
          <p:cNvSpPr txBox="1"/>
          <p:nvPr/>
        </p:nvSpPr>
        <p:spPr>
          <a:xfrm>
            <a:off x="9489430" y="5337423"/>
            <a:ext cx="37504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2a1810"/>
                </a:solidFill>
                <a:latin typeface="Source Serif 4"/>
                <a:ea typeface="Source Serif 4"/>
              </a:rPr>
              <a:t>.</a:t>
            </a:r>
          </a:p>
        </p:txBody>
      </p:sp>
      <p:sp>
        <p:nvSpPr>
          <p:cNvPr id="576" name="T576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577" name="T577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578" name="T578"/>
          <p:cNvSpPr txBox="1"/>
          <p:nvPr/>
        </p:nvSpPr>
        <p:spPr>
          <a:xfrm>
            <a:off x="9374088" y="538162"/>
            <a:ext cx="1325760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TROUBLESHOOTING</a:t>
            </a:r>
          </a:p>
        </p:txBody>
      </p:sp>
      <p:sp>
        <p:nvSpPr>
          <p:cNvPr id="579" name="T579"/>
          <p:cNvSpPr txBox="1"/>
          <p:nvPr/>
        </p:nvSpPr>
        <p:spPr>
          <a:xfrm>
            <a:off x="10699849" y="538162"/>
            <a:ext cx="39126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FIXES</a:t>
            </a:r>
          </a:p>
        </p:txBody>
      </p:sp>
      <p:sp>
        <p:nvSpPr>
          <p:cNvPr id="580" name="T580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581" name="T581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582" name="T582"/>
          <p:cNvSpPr txBox="1"/>
          <p:nvPr/>
        </p:nvSpPr>
        <p:spPr>
          <a:xfrm>
            <a:off x="1063525" y="6167437"/>
            <a:ext cx="241220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TROUBLESHOOTING · FIELD NOTES</a:t>
            </a:r>
          </a:p>
        </p:txBody>
      </p:sp>
      <p:sp>
        <p:nvSpPr>
          <p:cNvPr id="583" name="T583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4" name="R584"/>
          <p:cNvSpPr/>
          <p:nvPr/>
        </p:nvSpPr>
        <p:spPr>
          <a:xfrm>
            <a:off x="762000" y="342900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585" name="R585"/>
          <p:cNvSpPr/>
          <p:nvPr/>
        </p:nvSpPr>
        <p:spPr>
          <a:xfrm>
            <a:off x="762000" y="6505575"/>
            <a:ext cx="10668000" cy="9525"/>
          </a:xfrm>
          <a:prstGeom prst="rect">
            <a:avLst/>
          </a:prstGeom>
          <a:solidFill>
            <a:srgbClr val="2a1810">
              <a:alpha val="12000"/>
            </a:srgbClr>
          </a:solidFill>
        </p:spPr>
      </p:sp>
      <p:sp>
        <p:nvSpPr>
          <p:cNvPr id="586" name="R586"/>
          <p:cNvSpPr/>
          <p:nvPr/>
        </p:nvSpPr>
        <p:spPr>
          <a:xfrm>
            <a:off x="762000" y="1238250"/>
            <a:ext cx="228600" cy="14287"/>
          </a:xfrm>
          <a:prstGeom prst="rect">
            <a:avLst/>
          </a:prstGeom>
          <a:solidFill>
            <a:srgbClr val="c1502e"/>
          </a:solidFill>
        </p:spPr>
      </p:sp>
      <p:sp>
        <p:nvSpPr>
          <p:cNvPr id="587" name="T587"/>
          <p:cNvSpPr txBox="1"/>
          <p:nvPr/>
        </p:nvSpPr>
        <p:spPr>
          <a:xfrm>
            <a:off x="762000" y="1452562"/>
            <a:ext cx="2624137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Inter"/>
                <a:ea typeface="Inter"/>
              </a:rPr>
              <a:t>THE FINAL WORD · CLOSING NOTES</a:t>
            </a:r>
          </a:p>
        </p:txBody>
      </p:sp>
      <p:sp>
        <p:nvSpPr>
          <p:cNvPr id="588" name="T588"/>
          <p:cNvSpPr txBox="1"/>
          <p:nvPr/>
        </p:nvSpPr>
        <p:spPr>
          <a:xfrm>
            <a:off x="762000" y="2157412"/>
            <a:ext cx="2910036" cy="2000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0500">
                <a:solidFill>
                  <a:srgbClr val="1f1410"/>
                </a:solidFill>
                <a:latin typeface="Source Serif 4"/>
                <a:ea typeface="Source Serif 4"/>
              </a:rPr>
              <a:t>Buon</a:t>
            </a:r>
          </a:p>
        </p:txBody>
      </p:sp>
      <p:sp>
        <p:nvSpPr>
          <p:cNvPr id="589" name="T589"/>
          <p:cNvSpPr txBox="1"/>
          <p:nvPr/>
        </p:nvSpPr>
        <p:spPr>
          <a:xfrm>
            <a:off x="3672036" y="2071687"/>
            <a:ext cx="4222105" cy="2114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100">
                <a:solidFill>
                  <a:srgbClr val="c1502e"/>
                </a:solidFill>
                <a:latin typeface="Instrument Serif"/>
                <a:ea typeface="Instrument Serif"/>
              </a:rPr>
              <a:t>Appetito!</a:t>
            </a:r>
          </a:p>
        </p:txBody>
      </p:sp>
      <p:sp>
        <p:nvSpPr>
          <p:cNvPr id="590" name="T590"/>
          <p:cNvSpPr txBox="1"/>
          <p:nvPr/>
        </p:nvSpPr>
        <p:spPr>
          <a:xfrm>
            <a:off x="762000" y="3648967"/>
            <a:ext cx="682049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2a1810"/>
                </a:solidFill>
                <a:latin typeface="Source Serif 4"/>
                <a:ea typeface="Source Serif 4"/>
              </a:rPr>
              <a:t>Your authentic Roman Carbonara is complete. The emulsion holds, the silk clings to the</a:t>
            </a:r>
          </a:p>
        </p:txBody>
      </p:sp>
      <p:sp>
        <p:nvSpPr>
          <p:cNvPr id="591" name="T591"/>
          <p:cNvSpPr txBox="1"/>
          <p:nvPr/>
        </p:nvSpPr>
        <p:spPr>
          <a:xfrm>
            <a:off x="762000" y="3953321"/>
            <a:ext cx="270524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2a1810"/>
                </a:solidFill>
                <a:latin typeface="Source Serif 4"/>
                <a:ea typeface="Source Serif 4"/>
              </a:rPr>
              <a:t>rigatoni, and the kitchen smells of</a:t>
            </a:r>
          </a:p>
        </p:txBody>
      </p:sp>
      <p:sp>
        <p:nvSpPr>
          <p:cNvPr id="592" name="T592"/>
          <p:cNvSpPr txBox="1"/>
          <p:nvPr/>
        </p:nvSpPr>
        <p:spPr>
          <a:xfrm>
            <a:off x="3467248" y="3943796"/>
            <a:ext cx="1068139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425">
                <a:solidFill>
                  <a:srgbClr val="c1502e"/>
                </a:solidFill>
                <a:latin typeface="Instrument Serif"/>
                <a:ea typeface="Instrument Serif"/>
              </a:rPr>
              <a:t>pork and pepper</a:t>
            </a:r>
          </a:p>
        </p:txBody>
      </p:sp>
      <p:sp>
        <p:nvSpPr>
          <p:cNvPr id="593" name="T593"/>
          <p:cNvSpPr txBox="1"/>
          <p:nvPr/>
        </p:nvSpPr>
        <p:spPr>
          <a:xfrm>
            <a:off x="4535388" y="3953321"/>
            <a:ext cx="301481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2a1810"/>
                </a:solidFill>
                <a:latin typeface="Source Serif 4"/>
                <a:ea typeface="Source Serif 4"/>
              </a:rPr>
              <a:t>. There is no cream. There is no regret.</a:t>
            </a:r>
          </a:p>
        </p:txBody>
      </p:sp>
      <p:sp>
        <p:nvSpPr>
          <p:cNvPr id="594" name="L594"/>
          <p:cNvSpPr/>
          <p:nvPr/>
        </p:nvSpPr>
        <p:spPr>
          <a:xfrm>
            <a:off x="762000" y="4512171"/>
            <a:ext cx="7429500" cy="9525"/>
          </a:xfrm>
          <a:prstGeom prst="line">
            <a:avLst/>
          </a:prstGeom>
          <a:noFill/>
          <a:ln w="12700">
            <a:solidFill>
              <a:srgbClr val="2a1810">
                <a:alpha val="12000"/>
              </a:srgbClr>
            </a:solidFill>
          </a:ln>
        </p:spPr>
      </p:sp>
      <p:sp>
        <p:nvSpPr>
          <p:cNvPr id="595" name="T595"/>
          <p:cNvSpPr txBox="1"/>
          <p:nvPr/>
        </p:nvSpPr>
        <p:spPr>
          <a:xfrm>
            <a:off x="762000" y="4788396"/>
            <a:ext cx="8706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i.</a:t>
            </a:r>
          </a:p>
        </p:txBody>
      </p:sp>
      <p:sp>
        <p:nvSpPr>
          <p:cNvPr id="596" name="T596"/>
          <p:cNvSpPr txBox="1"/>
          <p:nvPr/>
        </p:nvSpPr>
        <p:spPr>
          <a:xfrm>
            <a:off x="1162050" y="4802683"/>
            <a:ext cx="1311175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Serve immediately</a:t>
            </a:r>
          </a:p>
        </p:txBody>
      </p:sp>
      <p:sp>
        <p:nvSpPr>
          <p:cNvPr id="597" name="T597"/>
          <p:cNvSpPr txBox="1"/>
          <p:nvPr/>
        </p:nvSpPr>
        <p:spPr>
          <a:xfrm>
            <a:off x="2473225" y="4802683"/>
            <a:ext cx="5155555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4a3a30"/>
                </a:solidFill>
                <a:latin typeface="Source Serif 4"/>
                <a:ea typeface="Source Serif 4"/>
              </a:rPr>
              <a:t>in warm bowls — carbonara waits for no one, and the sauce sets as it cools.</a:t>
            </a:r>
          </a:p>
        </p:txBody>
      </p:sp>
      <p:sp>
        <p:nvSpPr>
          <p:cNvPr id="598" name="T598"/>
          <p:cNvSpPr txBox="1"/>
          <p:nvPr/>
        </p:nvSpPr>
        <p:spPr>
          <a:xfrm>
            <a:off x="762000" y="5114627"/>
            <a:ext cx="13632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ii.</a:t>
            </a:r>
          </a:p>
        </p:txBody>
      </p:sp>
      <p:sp>
        <p:nvSpPr>
          <p:cNvPr id="599" name="T599"/>
          <p:cNvSpPr txBox="1"/>
          <p:nvPr/>
        </p:nvSpPr>
        <p:spPr>
          <a:xfrm>
            <a:off x="1162050" y="5128914"/>
            <a:ext cx="639514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4a3a30"/>
                </a:solidFill>
                <a:latin typeface="Source Serif 4"/>
                <a:ea typeface="Source Serif 4"/>
              </a:rPr>
              <a:t>Top with</a:t>
            </a:r>
          </a:p>
        </p:txBody>
      </p:sp>
      <p:sp>
        <p:nvSpPr>
          <p:cNvPr id="600" name="T600"/>
          <p:cNvSpPr txBox="1"/>
          <p:nvPr/>
        </p:nvSpPr>
        <p:spPr>
          <a:xfrm>
            <a:off x="1801564" y="5128914"/>
            <a:ext cx="1339453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c1502e"/>
                </a:solidFill>
                <a:latin typeface="Instrument Serif"/>
                <a:ea typeface="Instrument Serif"/>
              </a:rPr>
              <a:t>reserved crispy guanciale</a:t>
            </a:r>
          </a:p>
        </p:txBody>
      </p:sp>
      <p:sp>
        <p:nvSpPr>
          <p:cNvPr id="601" name="T601"/>
          <p:cNvSpPr txBox="1"/>
          <p:nvPr/>
        </p:nvSpPr>
        <p:spPr>
          <a:xfrm>
            <a:off x="3141017" y="5128914"/>
            <a:ext cx="382666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4a3a30"/>
                </a:solidFill>
                <a:latin typeface="Source Serif 4"/>
                <a:ea typeface="Source Serif 4"/>
              </a:rPr>
              <a:t>, extra Pecorino, and a final crack of fresh black pepper.</a:t>
            </a:r>
          </a:p>
        </p:txBody>
      </p:sp>
      <p:sp>
        <p:nvSpPr>
          <p:cNvPr id="602" name="T602"/>
          <p:cNvSpPr txBox="1"/>
          <p:nvPr/>
        </p:nvSpPr>
        <p:spPr>
          <a:xfrm>
            <a:off x="762000" y="5450383"/>
            <a:ext cx="18573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350">
                <a:solidFill>
                  <a:srgbClr val="c1502e"/>
                </a:solidFill>
                <a:latin typeface="Instrument Serif"/>
                <a:ea typeface="Instrument Serif"/>
              </a:rPr>
              <a:t>iii.</a:t>
            </a:r>
          </a:p>
        </p:txBody>
      </p:sp>
      <p:sp>
        <p:nvSpPr>
          <p:cNvPr id="603" name="T603"/>
          <p:cNvSpPr txBox="1"/>
          <p:nvPr/>
        </p:nvSpPr>
        <p:spPr>
          <a:xfrm>
            <a:off x="1162050" y="5464671"/>
            <a:ext cx="2595264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4a3a30"/>
                </a:solidFill>
                <a:latin typeface="Source Serif 4"/>
                <a:ea typeface="Source Serif 4"/>
              </a:rPr>
              <a:t>Pair with a cold, crisp Italian white —</a:t>
            </a:r>
          </a:p>
        </p:txBody>
      </p:sp>
      <p:sp>
        <p:nvSpPr>
          <p:cNvPr id="604" name="T604"/>
          <p:cNvSpPr txBox="1"/>
          <p:nvPr/>
        </p:nvSpPr>
        <p:spPr>
          <a:xfrm>
            <a:off x="3757314" y="5464671"/>
            <a:ext cx="560933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Frascati</a:t>
            </a:r>
          </a:p>
        </p:txBody>
      </p:sp>
      <p:sp>
        <p:nvSpPr>
          <p:cNvPr id="605" name="T605"/>
          <p:cNvSpPr txBox="1"/>
          <p:nvPr/>
        </p:nvSpPr>
        <p:spPr>
          <a:xfrm>
            <a:off x="4318248" y="5464671"/>
            <a:ext cx="220116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4a3a30"/>
                </a:solidFill>
                <a:latin typeface="Source Serif 4"/>
                <a:ea typeface="Source Serif 4"/>
              </a:rPr>
              <a:t>or</a:t>
            </a:r>
          </a:p>
        </p:txBody>
      </p:sp>
      <p:sp>
        <p:nvSpPr>
          <p:cNvPr id="606" name="T606"/>
          <p:cNvSpPr txBox="1"/>
          <p:nvPr/>
        </p:nvSpPr>
        <p:spPr>
          <a:xfrm>
            <a:off x="4538364" y="5464671"/>
            <a:ext cx="757088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1f1410"/>
                </a:solidFill>
                <a:latin typeface="Source Serif 4"/>
                <a:ea typeface="Source Serif 4"/>
              </a:rPr>
              <a:t>Verdicchio</a:t>
            </a:r>
          </a:p>
        </p:txBody>
      </p:sp>
      <p:sp>
        <p:nvSpPr>
          <p:cNvPr id="607" name="T607"/>
          <p:cNvSpPr txBox="1"/>
          <p:nvPr/>
        </p:nvSpPr>
        <p:spPr>
          <a:xfrm>
            <a:off x="5295453" y="5464671"/>
            <a:ext cx="2541686" cy="221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62">
                <a:solidFill>
                  <a:srgbClr val="4a3a30"/>
                </a:solidFill>
                <a:latin typeface="Source Serif 4"/>
                <a:ea typeface="Source Serif 4"/>
              </a:rPr>
              <a:t>cut through the richness beautifully.</a:t>
            </a:r>
          </a:p>
        </p:txBody>
      </p:sp>
      <p:sp>
        <p:nvSpPr>
          <p:cNvPr id="608" name="T608"/>
          <p:cNvSpPr txBox="1"/>
          <p:nvPr/>
        </p:nvSpPr>
        <p:spPr>
          <a:xfrm>
            <a:off x="762000" y="6048077"/>
            <a:ext cx="1122759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1f1410"/>
                </a:solidFill>
                <a:latin typeface="Inter"/>
                <a:ea typeface="Inter"/>
              </a:rPr>
              <a:t>END OF MANUAL</a:t>
            </a:r>
          </a:p>
        </p:txBody>
      </p:sp>
      <p:sp>
        <p:nvSpPr>
          <p:cNvPr id="609" name="R609"/>
          <p:cNvSpPr/>
          <p:nvPr/>
        </p:nvSpPr>
        <p:spPr>
          <a:xfrm>
            <a:off x="2037159" y="6067127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a3c">
              <a:alpha val="60000"/>
            </a:srgbClr>
          </a:solidFill>
        </p:spPr>
      </p:sp>
      <p:sp>
        <p:nvSpPr>
          <p:cNvPr id="610" name="T610"/>
          <p:cNvSpPr txBox="1"/>
          <p:nvPr/>
        </p:nvSpPr>
        <p:spPr>
          <a:xfrm>
            <a:off x="2227659" y="6048077"/>
            <a:ext cx="675084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1f1410"/>
                </a:solidFill>
                <a:latin typeface="Inter"/>
                <a:ea typeface="Inter"/>
              </a:rPr>
              <a:t>12 SLIDES</a:t>
            </a:r>
          </a:p>
        </p:txBody>
      </p:sp>
      <p:sp>
        <p:nvSpPr>
          <p:cNvPr id="611" name="R611"/>
          <p:cNvSpPr/>
          <p:nvPr/>
        </p:nvSpPr>
        <p:spPr>
          <a:xfrm>
            <a:off x="3055143" y="6067127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a3c">
              <a:alpha val="60000"/>
            </a:srgbClr>
          </a:solidFill>
        </p:spPr>
      </p:sp>
      <p:sp>
        <p:nvSpPr>
          <p:cNvPr id="612" name="T612"/>
          <p:cNvSpPr txBox="1"/>
          <p:nvPr/>
        </p:nvSpPr>
        <p:spPr>
          <a:xfrm>
            <a:off x="3245643" y="6048077"/>
            <a:ext cx="86037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c1502e"/>
                </a:solidFill>
                <a:latin typeface="Inter"/>
                <a:ea typeface="Inter"/>
              </a:rPr>
              <a:t>COOK AGAIN</a:t>
            </a:r>
          </a:p>
        </p:txBody>
      </p:sp>
      <p:sp>
        <p:nvSpPr>
          <p:cNvPr id="613" name="T613"/>
          <p:cNvSpPr txBox="1"/>
          <p:nvPr/>
        </p:nvSpPr>
        <p:spPr>
          <a:xfrm>
            <a:off x="4182219" y="6043314"/>
            <a:ext cx="10477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c1502e"/>
                </a:solidFill>
                <a:latin typeface="Source Serif 4"/>
                <a:ea typeface="Source Serif 4"/>
              </a:rPr>
              <a:t>↺</a:t>
            </a:r>
          </a:p>
        </p:txBody>
      </p:sp>
      <p:sp>
        <p:nvSpPr>
          <p:cNvPr id="614" name="T614"/>
          <p:cNvSpPr txBox="1"/>
          <p:nvPr/>
        </p:nvSpPr>
        <p:spPr>
          <a:xfrm>
            <a:off x="762000" y="533400"/>
            <a:ext cx="1194643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125">
                <a:solidFill>
                  <a:srgbClr val="2a1810"/>
                </a:solidFill>
                <a:latin typeface="Source Serif 4"/>
                <a:ea typeface="Source Serif 4"/>
              </a:rPr>
              <a:t>Carbonara Journal</a:t>
            </a:r>
          </a:p>
        </p:txBody>
      </p:sp>
      <p:sp>
        <p:nvSpPr>
          <p:cNvPr id="615" name="T615"/>
          <p:cNvSpPr txBox="1"/>
          <p:nvPr/>
        </p:nvSpPr>
        <p:spPr>
          <a:xfrm>
            <a:off x="1956643" y="557212"/>
            <a:ext cx="415825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VOL. I</a:t>
            </a:r>
          </a:p>
        </p:txBody>
      </p:sp>
      <p:sp>
        <p:nvSpPr>
          <p:cNvPr id="616" name="T616"/>
          <p:cNvSpPr txBox="1"/>
          <p:nvPr/>
        </p:nvSpPr>
        <p:spPr>
          <a:xfrm>
            <a:off x="10018811" y="538162"/>
            <a:ext cx="481756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FINALE</a:t>
            </a:r>
          </a:p>
        </p:txBody>
      </p:sp>
      <p:sp>
        <p:nvSpPr>
          <p:cNvPr id="617" name="T617"/>
          <p:cNvSpPr txBox="1"/>
          <p:nvPr/>
        </p:nvSpPr>
        <p:spPr>
          <a:xfrm>
            <a:off x="10500568" y="538162"/>
            <a:ext cx="590550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SERVING</a:t>
            </a:r>
          </a:p>
        </p:txBody>
      </p:sp>
      <p:sp>
        <p:nvSpPr>
          <p:cNvPr id="618" name="T618"/>
          <p:cNvSpPr txBox="1"/>
          <p:nvPr/>
        </p:nvSpPr>
        <p:spPr>
          <a:xfrm>
            <a:off x="11091118" y="538162"/>
            <a:ext cx="338881" cy="1500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87">
                <a:solidFill>
                  <a:srgbClr val="4a3a30"/>
                </a:solidFill>
                <a:latin typeface="Inter"/>
                <a:ea typeface="Inter"/>
              </a:rPr>
              <a:t>2026</a:t>
            </a:r>
          </a:p>
        </p:txBody>
      </p:sp>
      <p:sp>
        <p:nvSpPr>
          <p:cNvPr id="619" name="T619"/>
          <p:cNvSpPr txBox="1"/>
          <p:nvPr/>
        </p:nvSpPr>
        <p:spPr>
          <a:xfrm>
            <a:off x="762000" y="6162675"/>
            <a:ext cx="1872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8b5a3c">
                    <a:alpha val="70000"/>
                  </a:srgbClr>
                </a:solidFill>
                <a:latin typeface="Source Serif 4"/>
                <a:ea typeface="Source Serif 4"/>
              </a:rPr>
              <a:t>C.J.</a:t>
            </a:r>
          </a:p>
        </p:txBody>
      </p:sp>
      <p:sp>
        <p:nvSpPr>
          <p:cNvPr id="620" name="T620"/>
          <p:cNvSpPr txBox="1"/>
          <p:nvPr/>
        </p:nvSpPr>
        <p:spPr>
          <a:xfrm>
            <a:off x="1063525" y="6167437"/>
            <a:ext cx="165258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750">
                <a:solidFill>
                  <a:srgbClr val="4a3a30">
                    <a:alpha val="70000"/>
                  </a:srgbClr>
                </a:solidFill>
                <a:latin typeface="Inter"/>
                <a:ea typeface="Inter"/>
              </a:rPr>
              <a:t>FINIS · BUON APPETITO</a:t>
            </a:r>
          </a:p>
        </p:txBody>
      </p:sp>
      <p:sp>
        <p:nvSpPr>
          <p:cNvPr id="621" name="T621"/>
          <p:cNvSpPr txBox="1"/>
          <p:nvPr/>
        </p:nvSpPr>
        <p:spPr>
          <a:xfrm>
            <a:off x="11144994" y="6181725"/>
            <a:ext cx="285005" cy="157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825">
                <a:solidFill>
                  <a:srgbClr val="8b5a3c"/>
                </a:solidFill>
                <a:latin typeface="JetBrains Mono"/>
                <a:ea typeface="JetBrains Mono"/>
              </a:rPr>
              <a:t>§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